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84E00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19728"/>
              <a:satOff val="5580"/>
              <a:lumOff val="-12961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9808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3700"/>
            </a:lvl1pPr>
            <a:lvl2pPr marL="0" indent="228600" algn="ctr">
              <a:spcBef>
                <a:spcPts val="0"/>
              </a:spcBef>
              <a:buClrTx/>
              <a:buSzTx/>
              <a:buNone/>
              <a:defRPr sz="3700"/>
            </a:lvl2pPr>
            <a:lvl3pPr marL="0" indent="457200" algn="ctr">
              <a:spcBef>
                <a:spcPts val="0"/>
              </a:spcBef>
              <a:buClrTx/>
              <a:buSzTx/>
              <a:buNone/>
              <a:defRPr sz="3700"/>
            </a:lvl3pPr>
            <a:lvl4pPr marL="0" indent="685800" algn="ctr">
              <a:spcBef>
                <a:spcPts val="0"/>
              </a:spcBef>
              <a:buClrTx/>
              <a:buSzTx/>
              <a:buNone/>
              <a:defRPr sz="3700"/>
            </a:lvl4pPr>
            <a:lvl5pPr marL="0" indent="914400" algn="ctr">
              <a:spcBef>
                <a:spcPts val="0"/>
              </a:spcBef>
              <a:buClrTx/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/>
          <p:nvPr>
            <p:ph type="pic" idx="21"/>
          </p:nvPr>
        </p:nvSpPr>
        <p:spPr>
          <a:xfrm>
            <a:off x="-647700" y="508000"/>
            <a:ext cx="12369801" cy="614253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3700"/>
            </a:lvl1pPr>
            <a:lvl2pPr marL="0" indent="228600" algn="ctr">
              <a:spcBef>
                <a:spcPts val="0"/>
              </a:spcBef>
              <a:buClrTx/>
              <a:buSzTx/>
              <a:buNone/>
              <a:defRPr sz="3700"/>
            </a:lvl2pPr>
            <a:lvl3pPr marL="0" indent="457200" algn="ctr">
              <a:spcBef>
                <a:spcPts val="0"/>
              </a:spcBef>
              <a:buClrTx/>
              <a:buSzTx/>
              <a:buNone/>
              <a:defRPr sz="3700"/>
            </a:lvl3pPr>
            <a:lvl4pPr marL="0" indent="685800" algn="ctr">
              <a:spcBef>
                <a:spcPts val="0"/>
              </a:spcBef>
              <a:buClrTx/>
              <a:buSzTx/>
              <a:buNone/>
              <a:defRPr sz="3700"/>
            </a:lvl4pPr>
            <a:lvl5pPr marL="0" indent="914400" algn="ctr">
              <a:spcBef>
                <a:spcPts val="0"/>
              </a:spcBef>
              <a:buClrTx/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/>
          <p:nvPr>
            <p:ph type="pic" idx="21"/>
          </p:nvPr>
        </p:nvSpPr>
        <p:spPr>
          <a:xfrm>
            <a:off x="2451058" y="-138499"/>
            <a:ext cx="13525502" cy="901700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3700"/>
            </a:lvl1pPr>
            <a:lvl2pPr marL="0" indent="228600" algn="ctr">
              <a:spcBef>
                <a:spcPts val="0"/>
              </a:spcBef>
              <a:buClrTx/>
              <a:buSzTx/>
              <a:buNone/>
              <a:defRPr sz="3700"/>
            </a:lvl2pPr>
            <a:lvl3pPr marL="0" indent="457200" algn="ctr">
              <a:spcBef>
                <a:spcPts val="0"/>
              </a:spcBef>
              <a:buClrTx/>
              <a:buSzTx/>
              <a:buNone/>
              <a:defRPr sz="3700"/>
            </a:lvl3pPr>
            <a:lvl4pPr marL="0" indent="685800" algn="ctr">
              <a:spcBef>
                <a:spcPts val="0"/>
              </a:spcBef>
              <a:buClrTx/>
              <a:buSzTx/>
              <a:buNone/>
              <a:defRPr sz="3700"/>
            </a:lvl4pPr>
            <a:lvl5pPr marL="0" indent="914400" algn="ctr">
              <a:spcBef>
                <a:spcPts val="0"/>
              </a:spcBef>
              <a:buClrTx/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Image"/>
          <p:cNvSpPr/>
          <p:nvPr>
            <p:ph type="pic" idx="21"/>
          </p:nvPr>
        </p:nvSpPr>
        <p:spPr>
          <a:xfrm>
            <a:off x="4473575" y="2032000"/>
            <a:ext cx="10287000" cy="685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Body Level One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buClrTx/>
              <a:defRPr sz="2800"/>
            </a:lvl1pPr>
            <a:lvl2pPr marL="685800" indent="-342900">
              <a:spcBef>
                <a:spcPts val="3200"/>
              </a:spcBef>
              <a:buClrTx/>
              <a:defRPr sz="2800"/>
            </a:lvl2pPr>
            <a:lvl3pPr marL="1028700" indent="-342900">
              <a:spcBef>
                <a:spcPts val="3200"/>
              </a:spcBef>
              <a:buClrTx/>
              <a:defRPr sz="2800"/>
            </a:lvl3pPr>
            <a:lvl4pPr marL="1371600" indent="-342900">
              <a:spcBef>
                <a:spcPts val="3200"/>
              </a:spcBef>
              <a:buClrTx/>
              <a:defRPr sz="2800"/>
            </a:lvl4pPr>
            <a:lvl5pPr marL="1714500" indent="-342900">
              <a:spcBef>
                <a:spcPts val="3200"/>
              </a:spcBef>
              <a:buClrTx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Body Level One…"/>
          <p:cNvSpPr txBox="1"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>
            <a:lvl1pPr>
              <a:buClrTx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Image"/>
          <p:cNvSpPr/>
          <p:nvPr>
            <p:ph type="pic" sz="quarter" idx="21"/>
          </p:nvPr>
        </p:nvSpPr>
        <p:spPr>
          <a:xfrm>
            <a:off x="6426200" y="4965700"/>
            <a:ext cx="5886450" cy="3924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75" name="Image"/>
          <p:cNvSpPr/>
          <p:nvPr>
            <p:ph type="pic" sz="quarter" idx="22"/>
          </p:nvPr>
        </p:nvSpPr>
        <p:spPr>
          <a:xfrm>
            <a:off x="6737350" y="639233"/>
            <a:ext cx="5880100" cy="39200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76" name="Image"/>
          <p:cNvSpPr/>
          <p:nvPr>
            <p:ph type="pic" idx="23"/>
          </p:nvPr>
        </p:nvSpPr>
        <p:spPr>
          <a:xfrm>
            <a:off x="-3400425" y="-127000"/>
            <a:ext cx="13525500" cy="9017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“Type a quote here.”"/>
          <p:cNvSpPr txBox="1"/>
          <p:nvPr>
            <p:ph type="body" sz="quarter" idx="21"/>
          </p:nvPr>
        </p:nvSpPr>
        <p:spPr>
          <a:xfrm>
            <a:off x="1270000" y="4308686"/>
            <a:ext cx="10464800" cy="6096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ClrTx/>
              <a:buSzTx/>
              <a:buNone/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Image"/>
          <p:cNvSpPr/>
          <p:nvPr>
            <p:ph type="pic" idx="21"/>
          </p:nvPr>
        </p:nvSpPr>
        <p:spPr>
          <a:xfrm>
            <a:off x="-929606" y="-12700"/>
            <a:ext cx="16551777" cy="1103451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10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Системный Анализ…"/>
          <p:cNvSpPr txBox="1"/>
          <p:nvPr>
            <p:ph type="ctrTitle"/>
          </p:nvPr>
        </p:nvSpPr>
        <p:spPr>
          <a:xfrm>
            <a:off x="1270000" y="1193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Системный Анализ</a:t>
            </a:r>
          </a:p>
          <a:p>
            <a:pPr>
              <a:defRPr sz="37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почему системы так эффективны</a:t>
            </a:r>
          </a:p>
          <a:p>
            <a:pPr>
              <a:defRPr sz="37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1/3</a:t>
            </a:r>
          </a:p>
        </p:txBody>
      </p:sp>
      <p:sp>
        <p:nvSpPr>
          <p:cNvPr id="110" name="Алексей Рыхальский…"/>
          <p:cNvSpPr txBox="1"/>
          <p:nvPr>
            <p:ph type="subTitle" sz="quarter" idx="1"/>
          </p:nvPr>
        </p:nvSpPr>
        <p:spPr>
          <a:xfrm>
            <a:off x="1270000" y="5435600"/>
            <a:ext cx="10464800" cy="1130300"/>
          </a:xfrm>
          <a:prstGeom prst="rect">
            <a:avLst/>
          </a:prstGeom>
        </p:spPr>
        <p:txBody>
          <a:bodyPr/>
          <a:lstStyle/>
          <a:p>
            <a:pPr defTabSz="537463">
              <a:defRPr sz="3404"/>
            </a:pPr>
            <a:r>
              <a:t>Алексей Рыхальский</a:t>
            </a:r>
          </a:p>
          <a:p>
            <a:pPr defTabSz="537463">
              <a:defRPr sz="3404"/>
            </a:pPr>
            <a:r>
              <a:t>2017</a:t>
            </a:r>
          </a:p>
        </p:txBody>
      </p:sp>
      <p:sp>
        <p:nvSpPr>
          <p:cNvPr id="111" name="Slide Number"/>
          <p:cNvSpPr txBox="1"/>
          <p:nvPr>
            <p:ph type="sldNum" sz="quarter" idx="4294967295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Если почвенные механизмы хорошо работают как единое целое, значит, и каждая их часть хороша, и неважно, насколько детально мы в них разбираемся.…"/>
          <p:cNvSpPr txBox="1"/>
          <p:nvPr>
            <p:ph type="body" idx="21"/>
          </p:nvPr>
        </p:nvSpPr>
        <p:spPr>
          <a:xfrm>
            <a:off x="336153" y="1663039"/>
            <a:ext cx="12332494" cy="5919522"/>
          </a:xfrm>
          <a:prstGeom prst="rect">
            <a:avLst/>
          </a:prstGeom>
        </p:spPr>
        <p:txBody>
          <a:bodyPr/>
          <a:lstStyle/>
          <a:p>
            <a:pPr/>
            <a:r>
              <a:t>Если почвенные механизмы хорошо работают как единое целое, значит, и каждая их часть хороша, и неважно, насколько детально мы в них разбираемся.</a:t>
            </a:r>
          </a:p>
          <a:p>
            <a:pPr/>
            <a:r>
              <a:t>Биоте удалось за миллионы лет построить нечто, что нам очень нравится, но в чем мы почти ничего не понимаем, поэтому избавляться от частей, которые нам кажутся бесполезными, — чудовищная глупость.</a:t>
            </a:r>
          </a:p>
          <a:p>
            <a:pPr/>
            <a:r>
              <a:t>Надо действовать подобно опытному часовому мастеру: прилежно сохранять все, даже самые мелкие, детали и винтики.</a:t>
            </a:r>
          </a:p>
          <a:p>
            <a:pPr algn="r">
              <a:spcBef>
                <a:spcPts val="2000"/>
              </a:spcBef>
              <a:defRPr i="1"/>
            </a:pPr>
            <a:r>
              <a:t>Олдо Леопольд, эколог</a:t>
            </a:r>
          </a:p>
        </p:txBody>
      </p:sp>
      <p:sp>
        <p:nvSpPr>
          <p:cNvPr id="114" name="Slide Number"/>
          <p:cNvSpPr txBox="1"/>
          <p:nvPr>
            <p:ph type="sldNum" sz="quarter" idx="4294967295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Если внешнее воздействие слишком сильно, системы могут демонстрировать не наблюдавшееся ранее поведение или вообще распадаться на части.…"/>
          <p:cNvSpPr txBox="1"/>
          <p:nvPr>
            <p:ph type="body" idx="21"/>
          </p:nvPr>
        </p:nvSpPr>
        <p:spPr>
          <a:xfrm>
            <a:off x="336153" y="526389"/>
            <a:ext cx="12113419" cy="8192822"/>
          </a:xfrm>
          <a:prstGeom prst="rect">
            <a:avLst/>
          </a:prstGeom>
        </p:spPr>
        <p:txBody>
          <a:bodyPr/>
          <a:lstStyle/>
          <a:p>
            <a:pPr/>
            <a:r>
              <a:t>Если внешнее воздействие слишком сильно, системы могут демонстрировать не наблюдавшееся ранее поведение или вообще распадаться на части. </a:t>
            </a:r>
          </a:p>
          <a:p>
            <a:pPr/>
            <a:r>
              <a:t>Но в общем и целом системы справляются со своими задачами вполне успешно. </a:t>
            </a:r>
            <a:r>
              <a:rPr u="sng"/>
              <a:t>В этом и кроется притягательность систем: они могут быть очень эффективными</a:t>
            </a:r>
            <a:r>
              <a:t>. </a:t>
            </a:r>
          </a:p>
          <a:p>
            <a:pPr/>
            <a:r>
              <a:t>Когда система работает хорошо, мы видим в ее действиях </a:t>
            </a:r>
            <a:r>
              <a:rPr u="sng"/>
              <a:t>гармонию и согласованность</a:t>
            </a:r>
            <a:r>
              <a:t>. </a:t>
            </a:r>
          </a:p>
          <a:p>
            <a:pPr/>
            <a:r>
              <a:t>Вспомните, как работают бригады спасателей, без промедления бросающиеся на борьбу со стихийными бедствиями. Люди слаженно работают многие часы без передышки, чтобы помочь пострадавшим, проявляют лучшие человеческие качества и профессиональные навыки. Когда же ситуацией удается овладеть, жизнь возвращается в обычное русло.</a:t>
            </a:r>
          </a:p>
        </p:txBody>
      </p:sp>
      <p:sp>
        <p:nvSpPr>
          <p:cNvPr id="117" name="Slide Number"/>
          <p:cNvSpPr txBox="1"/>
          <p:nvPr>
            <p:ph type="sldNum" sz="quarter" idx="4294967295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Почему же системы так эффективны? Давайте рассмотрим свойства сложных систем — больших сообществ людей, экосистем, сложных машин — тех, что знакомы каждому.…"/>
          <p:cNvSpPr txBox="1"/>
          <p:nvPr>
            <p:ph type="body" idx="21"/>
          </p:nvPr>
        </p:nvSpPr>
        <p:spPr>
          <a:xfrm>
            <a:off x="336153" y="2380589"/>
            <a:ext cx="12332494" cy="4484422"/>
          </a:xfrm>
          <a:prstGeom prst="rect">
            <a:avLst/>
          </a:prstGeom>
        </p:spPr>
        <p:txBody>
          <a:bodyPr/>
          <a:lstStyle/>
          <a:p>
            <a:pPr/>
            <a:r>
              <a:rPr b="1"/>
              <a:t>Почему же системы так эффективны</a:t>
            </a:r>
            <a:r>
              <a:t>? Давайте рассмотрим свойства сложных систем — больших сообществ людей, экосистем, сложных машин — тех, что знакомы каждому. </a:t>
            </a:r>
          </a:p>
          <a:p>
            <a:pPr/>
            <a:r>
              <a:t>Особенно важно уметь выделять </a:t>
            </a:r>
            <a:r>
              <a:rPr b="1"/>
              <a:t>три</a:t>
            </a:r>
            <a:r>
              <a:t> основных качества, свойственных системам: </a:t>
            </a:r>
          </a:p>
          <a:p>
            <a:pPr marL="635000" indent="-635000">
              <a:buSzPct val="100000"/>
              <a:buAutoNum type="arabicPeriod" startAt="1"/>
            </a:pPr>
            <a:r>
              <a:t>устойчивость к внешним воздействиям; </a:t>
            </a:r>
          </a:p>
          <a:p>
            <a:pPr marL="635000" indent="-635000">
              <a:buSzPct val="100000"/>
              <a:buAutoNum type="arabicPeriod" startAt="1"/>
            </a:pPr>
            <a:r>
              <a:t>способность к самоорганизации; </a:t>
            </a:r>
          </a:p>
          <a:p>
            <a:pPr marL="635000" indent="-635000">
              <a:buSzPct val="100000"/>
              <a:buAutoNum type="arabicPeriod" startAt="1"/>
            </a:pPr>
            <a:r>
              <a:t>иерархическое строение.</a:t>
            </a:r>
          </a:p>
        </p:txBody>
      </p:sp>
      <p:sp>
        <p:nvSpPr>
          <p:cNvPr id="120" name="Slide Number"/>
          <p:cNvSpPr txBox="1"/>
          <p:nvPr>
            <p:ph type="sldNum" sz="quarter" idx="4294967295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Устойчивость  к внешним воздействиям…"/>
          <p:cNvSpPr txBox="1"/>
          <p:nvPr>
            <p:ph type="body" idx="21"/>
          </p:nvPr>
        </p:nvSpPr>
        <p:spPr>
          <a:xfrm>
            <a:off x="336153" y="1682089"/>
            <a:ext cx="12332494" cy="5881422"/>
          </a:xfrm>
          <a:prstGeom prst="rect">
            <a:avLst/>
          </a:prstGeom>
        </p:spPr>
        <p:txBody>
          <a:bodyPr/>
          <a:lstStyle/>
          <a:p>
            <a:pPr algn="ctr">
              <a:spcBef>
                <a:spcPts val="0"/>
              </a:spcBef>
              <a:defRPr sz="6000">
                <a:latin typeface="+mn-lt"/>
                <a:ea typeface="+mn-ea"/>
                <a:cs typeface="+mn-cs"/>
                <a:sym typeface="Helvetica Neue Medium"/>
              </a:defRPr>
            </a:pPr>
            <a:r>
              <a:t>Устойчивость </a:t>
            </a:r>
            <a:br/>
            <a:r>
              <a:t>к внешним воздействиям</a:t>
            </a:r>
          </a:p>
          <a:p>
            <a:pPr/>
            <a:r>
              <a:t>Если поместить систему в тепличные условия, она может стать хрупкой и неустойчивой.</a:t>
            </a:r>
          </a:p>
          <a:p>
            <a:pPr algn="r">
              <a:spcBef>
                <a:spcPts val="2000"/>
              </a:spcBef>
              <a:defRPr i="1"/>
            </a:pPr>
            <a:r>
              <a:t>К. С. Холдинг, эколог </a:t>
            </a:r>
          </a:p>
          <a:p>
            <a:pPr/>
            <a:r>
              <a:t>Устойчивость к внешним воздействиям можно называть по-разному — </a:t>
            </a:r>
            <a:r>
              <a:rPr b="1"/>
              <a:t>гибкостью, упругостью, эластичностью</a:t>
            </a:r>
            <a:r>
              <a:t> системы, в зависимости от того, термины какой области знаний мы используем. </a:t>
            </a:r>
          </a:p>
        </p:txBody>
      </p:sp>
      <p:sp>
        <p:nvSpPr>
          <p:cNvPr id="123" name="Slide Number"/>
          <p:cNvSpPr txBox="1"/>
          <p:nvPr>
            <p:ph type="sldNum" sz="quarter" idx="4294967295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Для наших целей достаточно самых простых определений:…"/>
          <p:cNvSpPr txBox="1"/>
          <p:nvPr>
            <p:ph type="body" idx="21"/>
          </p:nvPr>
        </p:nvSpPr>
        <p:spPr>
          <a:xfrm>
            <a:off x="336153" y="2037689"/>
            <a:ext cx="12332494" cy="5170222"/>
          </a:xfrm>
          <a:prstGeom prst="rect">
            <a:avLst/>
          </a:prstGeom>
        </p:spPr>
        <p:txBody>
          <a:bodyPr/>
          <a:lstStyle/>
          <a:p>
            <a:pPr/>
            <a:r>
              <a:t>Для наших целей достаточно самых простых определений: </a:t>
            </a:r>
          </a:p>
          <a:p>
            <a:pPr>
              <a:defRPr u="sng"/>
            </a:pPr>
            <a:r>
              <a:t>«Способность восстановить свою форму, вернуться в исходное положение и состояние после внешнего воздействия. Приспособляемость. Способность быстро восстановить силы, образ действий, настрой и другие качества».</a:t>
            </a:r>
          </a:p>
          <a:p>
            <a:pPr/>
            <a:r>
              <a:t>Устойчивость и упругость — способность системы выдерживать различные внешние условия и продолжать существовать в изменчивом окружении. Противоположные качества — хрупкость и жесткость.</a:t>
            </a:r>
          </a:p>
        </p:txBody>
      </p:sp>
      <p:sp>
        <p:nvSpPr>
          <p:cNvPr id="126" name="Slide Number"/>
          <p:cNvSpPr txBox="1"/>
          <p:nvPr>
            <p:ph type="sldNum" sz="quarter" idx="4294967295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Способность выдерживать внешние воздействия возникает благодаря сложной структуре многочисленных обратных связей, которые могут разными способами восстанавливать систему даже после сильных потрясений и возмущений.…"/>
          <p:cNvSpPr txBox="1"/>
          <p:nvPr>
            <p:ph type="body" idx="21"/>
          </p:nvPr>
        </p:nvSpPr>
        <p:spPr>
          <a:xfrm>
            <a:off x="336153" y="1555089"/>
            <a:ext cx="12332494" cy="6135422"/>
          </a:xfrm>
          <a:prstGeom prst="rect">
            <a:avLst/>
          </a:prstGeom>
        </p:spPr>
        <p:txBody>
          <a:bodyPr/>
          <a:lstStyle/>
          <a:p>
            <a:pPr/>
            <a:r>
              <a:t>Способность выдерживать внешние воздействия возникает </a:t>
            </a:r>
            <a:r>
              <a:rPr u="sng"/>
              <a:t>благодаря сложной структуре многочисленных обратных связей</a:t>
            </a:r>
            <a:r>
              <a:t>, которые могут разными способами восстанавливать систему даже после сильных потрясений и возмущений. </a:t>
            </a:r>
          </a:p>
          <a:p>
            <a:pPr/>
            <a:r>
              <a:rPr u="sng"/>
              <a:t>Отдельно взятый балансирующий цикл обратной связи уже способен приводить запас в системе к какому-то конкретному значению</a:t>
            </a:r>
            <a:r>
              <a:t>. </a:t>
            </a:r>
          </a:p>
          <a:p>
            <a:pPr/>
            <a:r>
              <a:t>Устойчивость обеспечивается несколькими такими циклами, работающими за счет разных механизмов, в разных временных масштабах и с большой надежностью — </a:t>
            </a:r>
            <a:r>
              <a:rPr u="sng"/>
              <a:t>если даже какой-то из циклов не сработает, вместо него начнет действовать другой.</a:t>
            </a:r>
          </a:p>
        </p:txBody>
      </p:sp>
      <p:sp>
        <p:nvSpPr>
          <p:cNvPr id="129" name="Slide Number"/>
          <p:cNvSpPr txBox="1"/>
          <p:nvPr>
            <p:ph type="sldNum" sz="quarter" idx="4294967295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Набор петель обратной связи, который позволит восстановить или построить заново в системе сами циклы обратной связи, — это устойчивость на более высоком уровне, сверхустойчивость, если угодно.…"/>
          <p:cNvSpPr txBox="1"/>
          <p:nvPr>
            <p:ph type="body" idx="21"/>
          </p:nvPr>
        </p:nvSpPr>
        <p:spPr>
          <a:xfrm>
            <a:off x="336153" y="1555089"/>
            <a:ext cx="12332494" cy="6135422"/>
          </a:xfrm>
          <a:prstGeom prst="rect">
            <a:avLst/>
          </a:prstGeom>
        </p:spPr>
        <p:txBody>
          <a:bodyPr/>
          <a:lstStyle/>
          <a:p>
            <a:pPr/>
            <a:r>
              <a:t>Набор петель обратной связи, который позволит восстановить или построить заново в системе сами циклы обратной связи, — </a:t>
            </a:r>
            <a:r>
              <a:rPr u="sng"/>
              <a:t>это устойчивость на более высоком уровне</a:t>
            </a:r>
            <a:r>
              <a:t>, сверхустойчивость, если угодно. </a:t>
            </a:r>
          </a:p>
          <a:p>
            <a:pPr/>
            <a:r>
              <a:t>Существует даже </a:t>
            </a:r>
            <a:r>
              <a:rPr u="sng"/>
              <a:t>ультрасверхустойчивость</a:t>
            </a:r>
            <a:r>
              <a:t>, возникающая на основе обратных связей, </a:t>
            </a:r>
            <a:r>
              <a:rPr u="sng"/>
              <a:t>которые могут самонастраиваться, иметь намерения, обучаться, создавать и эволюционировать в еще более сложные структуры, способные к самовосстановлению</a:t>
            </a:r>
            <a:r>
              <a:t>.</a:t>
            </a:r>
          </a:p>
          <a:p>
            <a:pPr/>
            <a:r>
              <a:t>Системы, умеющие все это, обладают способностью к самоорганизации — это второе удивительное качество, характерное для систем; о нем мы поговорим позже.</a:t>
            </a:r>
          </a:p>
        </p:txBody>
      </p:sp>
      <p:sp>
        <p:nvSpPr>
          <p:cNvPr id="132" name="Slide Number"/>
          <p:cNvSpPr txBox="1"/>
          <p:nvPr>
            <p:ph type="sldNum" sz="quarter" idx="4294967295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Человеческий организм — пример поразительно устойчивой системы. Он может успешно отражать тысячи самых разных атак и посягательств, выдерживать широкий диапазон температур, потреблять самую разную пищу. Он умеет перераспределять кровоток, заживлять порез"/>
          <p:cNvSpPr txBox="1"/>
          <p:nvPr>
            <p:ph type="body" idx="21"/>
          </p:nvPr>
        </p:nvSpPr>
        <p:spPr>
          <a:xfrm>
            <a:off x="336153" y="1593189"/>
            <a:ext cx="12332494" cy="6059222"/>
          </a:xfrm>
          <a:prstGeom prst="rect">
            <a:avLst/>
          </a:prstGeom>
        </p:spPr>
        <p:txBody>
          <a:bodyPr/>
          <a:lstStyle/>
          <a:p>
            <a:pPr/>
            <a:r>
              <a:rPr b="1"/>
              <a:t>Человеческий организм — пример поразительно устойчивой системы. </a:t>
            </a:r>
            <a:r>
              <a:t>Он может успешно отражать тысячи самых разных атак и посягательств, выдерживать широкий диапазон температур, потреблять самую разную пищу. Он умеет перераспределять кровоток, заживлять порезы и царапины, ускорять или замедлять обмен веществ, в определенных пределах компенсировать повреждения частей тела и даже их потерю. </a:t>
            </a:r>
          </a:p>
          <a:p>
            <a:pPr/>
            <a:r>
              <a:t>Добавьте к этому </a:t>
            </a:r>
            <a:r>
              <a:rPr b="1"/>
              <a:t>самоорганизующуюся способность к пониманию, интеллект</a:t>
            </a:r>
            <a:r>
              <a:t>, позволяющий человеку учиться, быть частью общества, разрабатывать технологии и даже пересаживать органы... </a:t>
            </a:r>
          </a:p>
        </p:txBody>
      </p:sp>
      <p:sp>
        <p:nvSpPr>
          <p:cNvPr id="135" name="Slide Number"/>
          <p:cNvSpPr txBox="1"/>
          <p:nvPr>
            <p:ph type="sldNum" sz="quarter" idx="4294967295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В результате вы получите необычайно устойчивую систему, хотя, конечно, ее способность переносить внешние воздействия не безгранична.…"/>
          <p:cNvSpPr txBox="1"/>
          <p:nvPr>
            <p:ph type="body" idx="21"/>
          </p:nvPr>
        </p:nvSpPr>
        <p:spPr>
          <a:xfrm>
            <a:off x="336153" y="646051"/>
            <a:ext cx="12332494" cy="7953498"/>
          </a:xfrm>
          <a:prstGeom prst="rect">
            <a:avLst/>
          </a:prstGeom>
        </p:spPr>
        <p:txBody>
          <a:bodyPr/>
          <a:lstStyle/>
          <a:p>
            <a:pPr/>
            <a:r>
              <a:t>В результате вы получите необычайно устойчивую систему, хотя, конечно, ее способность переносить внешние воздействия не безгранична. </a:t>
            </a:r>
          </a:p>
          <a:p>
            <a:pPr/>
            <a:r>
              <a:t>Ибо никакой человеческий организм (в сочетании с любым, даже самым продвинутым интеллектом) не сможет избежать умирания. Рано или поздно смерть настигает любое живое существо.</a:t>
            </a:r>
          </a:p>
          <a:p>
            <a:pPr/>
          </a:p>
          <a:p>
            <a:pPr algn="ctr">
              <a:spcBef>
                <a:spcPts val="0"/>
              </a:spcBef>
              <a:defRPr sz="6000">
                <a:latin typeface="+mn-lt"/>
                <a:ea typeface="+mn-ea"/>
                <a:cs typeface="+mn-cs"/>
                <a:sym typeface="Helvetica Neue Medium"/>
              </a:defRPr>
            </a:pPr>
            <a:r>
              <a:t>У способности системы к самовосстановлению и устойчивости всегда есть пределы.</a:t>
            </a:r>
          </a:p>
        </p:txBody>
      </p:sp>
      <p:sp>
        <p:nvSpPr>
          <p:cNvPr id="138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Экосистемы тоже обладают впечатляющей устойчивостью и упругостью.…"/>
          <p:cNvSpPr txBox="1"/>
          <p:nvPr>
            <p:ph type="body" idx="21"/>
          </p:nvPr>
        </p:nvSpPr>
        <p:spPr>
          <a:xfrm>
            <a:off x="336153" y="1301089"/>
            <a:ext cx="12332494" cy="6643422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Экосистемы тоже обладают впечатляющей устойчивостью и упругостью. </a:t>
            </a:r>
          </a:p>
          <a:p>
            <a:pPr/>
            <a:r>
              <a:t>Множество разных видов организмов контролируют друг друга, перемещаются в пространстве, увеличивают или уменьшают численность в зависимости от доступности питательных веществ, от погодных условий, в ответ на антропогенное воздействие. </a:t>
            </a:r>
          </a:p>
          <a:p>
            <a:pPr/>
            <a:r>
              <a:t>Популяции и экосистемы тоже имеют способность «учиться» и развиваться за счет своего невероятно богатого генетического разнообразия. Если дать им достаточно времени, они могут порождать совершенно новые системы, используя в изменчивых условиях любые возможности для поддержания жизни.</a:t>
            </a:r>
          </a:p>
        </p:txBody>
      </p:sp>
      <p:sp>
        <p:nvSpPr>
          <p:cNvPr id="14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Устойчивость вовсе не синоним неподвижности или постоянства.…"/>
          <p:cNvSpPr txBox="1"/>
          <p:nvPr>
            <p:ph type="body" idx="21"/>
          </p:nvPr>
        </p:nvSpPr>
        <p:spPr>
          <a:xfrm>
            <a:off x="336153" y="856589"/>
            <a:ext cx="12332494" cy="7532422"/>
          </a:xfrm>
          <a:prstGeom prst="rect">
            <a:avLst/>
          </a:prstGeom>
        </p:spPr>
        <p:txBody>
          <a:bodyPr/>
          <a:lstStyle/>
          <a:p>
            <a:pPr>
              <a:defRPr u="sng"/>
            </a:pPr>
            <a:r>
              <a:rPr b="1"/>
              <a:t>Устойчивость вовсе не синоним неподвижности или постоянства</a:t>
            </a:r>
            <a:r>
              <a:t>. </a:t>
            </a:r>
          </a:p>
          <a:p>
            <a:pPr/>
            <a:r>
              <a:t>Устойчивые системы могут быть очень динамичными. </a:t>
            </a:r>
          </a:p>
          <a:p>
            <a:pPr/>
            <a:r>
              <a:t>Для них могут быть характерны </a:t>
            </a:r>
          </a:p>
          <a:p>
            <a:pPr marL="444500" indent="-444500">
              <a:buSzPct val="145000"/>
              <a:buChar char="•"/>
            </a:pPr>
            <a:r>
              <a:t>кратковременные колебания; </a:t>
            </a:r>
          </a:p>
          <a:p>
            <a:pPr marL="444500" indent="-444500">
              <a:buSzPct val="145000"/>
              <a:buChar char="•"/>
            </a:pPr>
            <a:r>
              <a:t>периодические выходы за пределы;</a:t>
            </a:r>
          </a:p>
          <a:p>
            <a:pPr marL="444500" indent="-444500">
              <a:buSzPct val="145000"/>
              <a:buChar char="•"/>
            </a:pPr>
            <a:r>
              <a:t>постепенная смена сообществ (сукцессия);</a:t>
            </a:r>
          </a:p>
          <a:p>
            <a:pPr marL="444500" indent="-444500">
              <a:buSzPct val="145000"/>
              <a:buChar char="•"/>
            </a:pPr>
            <a:r>
              <a:t>достижение климаксного сообщества;</a:t>
            </a:r>
          </a:p>
          <a:p>
            <a:pPr marL="444500" indent="-444500">
              <a:buSzPct val="145000"/>
              <a:buChar char="•"/>
            </a:pPr>
            <a:r>
              <a:t>стабильные стадии;</a:t>
            </a:r>
          </a:p>
          <a:p>
            <a:pPr marL="444500" indent="-444500">
              <a:buSzPct val="145000"/>
              <a:buChar char="•"/>
            </a:pPr>
            <a:r>
              <a:t>даже упадок;</a:t>
            </a:r>
          </a:p>
          <a:p>
            <a:pPr/>
            <a:r>
              <a:t>все это может быть нормальными проявлениями системы, если она обладает упругостью, способностью восстанавливаться.</a:t>
            </a:r>
          </a:p>
        </p:txBody>
      </p:sp>
      <p:sp>
        <p:nvSpPr>
          <p:cNvPr id="144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Неизменные, постоянные во времени системы, напротив, могут быть очень хрупкими.…"/>
          <p:cNvSpPr txBox="1"/>
          <p:nvPr>
            <p:ph type="body" idx="21"/>
          </p:nvPr>
        </p:nvSpPr>
        <p:spPr>
          <a:xfrm>
            <a:off x="336153" y="1720189"/>
            <a:ext cx="12332494" cy="5805222"/>
          </a:xfrm>
          <a:prstGeom prst="rect">
            <a:avLst/>
          </a:prstGeom>
        </p:spPr>
        <p:txBody>
          <a:bodyPr/>
          <a:lstStyle/>
          <a:p>
            <a:pPr>
              <a:defRPr b="1" u="sng"/>
            </a:pPr>
            <a:r>
              <a:t>Неизменные, постоянные во времени системы, напротив, могут быть очень хрупкими. </a:t>
            </a:r>
          </a:p>
          <a:p>
            <a:pPr/>
            <a:r>
              <a:t>Различие между неподвижной стабильностью и динамической устойчивостью очень важно. </a:t>
            </a:r>
          </a:p>
          <a:p>
            <a:pPr/>
            <a:r>
              <a:t>Статичную стабильность можно увидеть. Ее параметры можно измерить в любой момент времени — сейчас, через неделю, через год. </a:t>
            </a:r>
          </a:p>
          <a:p>
            <a:pPr/>
            <a:r>
              <a:t>Упругость и способность переносить внешние воздействия разглядеть необычайно трудно, если только вы не превысите пределы устойчивости, не повредите балансирующие циклы и не разрушите всю структуру системы. </a:t>
            </a:r>
          </a:p>
        </p:txBody>
      </p:sp>
      <p:sp>
        <p:nvSpPr>
          <p:cNvPr id="147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Из-за того, что устойчивость неочевидна (если только вы не используете системный подход), люди часто пренебрегают ею и стремятся достичь видимой стабильности, производительности или других легко узнаваемых характеристик и качеств системы.…"/>
          <p:cNvSpPr txBox="1"/>
          <p:nvPr>
            <p:ph type="body" idx="21"/>
          </p:nvPr>
        </p:nvSpPr>
        <p:spPr>
          <a:xfrm>
            <a:off x="336153" y="653389"/>
            <a:ext cx="12332494" cy="7938822"/>
          </a:xfrm>
          <a:prstGeom prst="rect">
            <a:avLst/>
          </a:prstGeom>
        </p:spPr>
        <p:txBody>
          <a:bodyPr/>
          <a:lstStyle/>
          <a:p>
            <a:pPr/>
            <a:r>
              <a:t>Из-за того, что устойчивость неочевидна (если только вы не используете системный подход), люди часто пренебрегают ею и стремятся достичь видимой стабильности, производительности или других легко узнаваемых характеристик и качеств системы.</a:t>
            </a:r>
          </a:p>
          <a:p>
            <a:pPr marL="444500" indent="-444500">
              <a:buSzPct val="145000"/>
              <a:buChar char="•"/>
            </a:pPr>
            <a:r>
              <a:rPr u="sng"/>
              <a:t>Если вводить коровам генетически модифицированный коровий гормон роста</a:t>
            </a:r>
            <a:r>
              <a:t>, можно поднять надой молока, не увеличивая при этом количество фуража. Гормон позволяет перенаправить часть энергии обмена веществ с других функций организма на выработку молока. (Скотоводы многие века стремились к той же цели и во многом преуспели, но только не в такой степени.) За возросшие надои приходится расплачиваться уменьшением устойчивости. Коровы становятся больше подверженными заболеваниям, более зависимыми от действий человека, средняя продолжительность их жизни уменьшается.</a:t>
            </a:r>
          </a:p>
        </p:txBody>
      </p:sp>
      <p:sp>
        <p:nvSpPr>
          <p:cNvPr id="150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Поставка продукции в магазины или комплектующих на сборочные заводы по принципу «точно в срок» позволяет самым разным отраслям уменьшить проблемы со складским хранением и сэкономить большие средства. Но одновременно с этим метод «точно в срок» делает сис"/>
          <p:cNvSpPr txBox="1"/>
          <p:nvPr>
            <p:ph type="body" idx="21"/>
          </p:nvPr>
        </p:nvSpPr>
        <p:spPr>
          <a:xfrm>
            <a:off x="336153" y="2405989"/>
            <a:ext cx="12332494" cy="4433622"/>
          </a:xfrm>
          <a:prstGeom prst="rect">
            <a:avLst/>
          </a:prstGeom>
        </p:spPr>
        <p:txBody>
          <a:bodyPr/>
          <a:lstStyle/>
          <a:p>
            <a:pPr marL="444500" indent="-444500">
              <a:buSzPct val="145000"/>
              <a:buChar char="•"/>
            </a:pPr>
            <a:r>
              <a:rPr u="sng"/>
              <a:t>Поставка продукции в магазины или комплектующих на сборочные заводы по принципу «точно в срок»</a:t>
            </a:r>
            <a:r>
              <a:t> позволяет самым разным отраслям уменьшить проблемы со складским хранением и сэкономить большие средства. Но одновременно с этим метод «точно в срок» делает систему более уязвимой, чувствительной к перебоям в поставках, зависимой от транспортных потоков и пробок, компьютерных сбоев, доступности рабочей силы и других факторов.</a:t>
            </a:r>
          </a:p>
        </p:txBody>
      </p:sp>
      <p:sp>
        <p:nvSpPr>
          <p:cNvPr id="153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Интенсивное сведение лесов в Европе в течение сотен лет постепенно привело к тому, что исходные экосистемы уступили место плантациям монокультур, посадкам одновозрастных, часто чужеродных деревьев. Такие леса при любых условиях должны давать древесину и "/>
          <p:cNvSpPr txBox="1"/>
          <p:nvPr>
            <p:ph type="body" idx="21"/>
          </p:nvPr>
        </p:nvSpPr>
        <p:spPr>
          <a:xfrm>
            <a:off x="336153" y="1923389"/>
            <a:ext cx="12332494" cy="5398822"/>
          </a:xfrm>
          <a:prstGeom prst="rect">
            <a:avLst/>
          </a:prstGeom>
        </p:spPr>
        <p:txBody>
          <a:bodyPr/>
          <a:lstStyle/>
          <a:p>
            <a:pPr marL="444500" indent="-444500">
              <a:buSzPct val="145000"/>
              <a:buChar char="•"/>
            </a:pPr>
            <a:r>
              <a:rPr u="sng"/>
              <a:t>Интенсивное сведение лесов в Европе в течение сотен лет постепенно привело к тому</a:t>
            </a:r>
            <a:r>
              <a:t>, что исходные экосистемы уступили место плантациям монокультур, посадкам одновозрастных, часто чужеродных деревьев. Такие леса при любых условиях должны давать древесину и целлюлозу. Но из-за того, что в них нет множества разных видов, взаимодействующих между собой, извлекающих из почвы и возвращающих в нее различные питательные вещества, такие леса утратили устойчивость. Они совершенно беззащитны перед новой формой воздействия: промышленным загрязнением воздуха. </a:t>
            </a:r>
          </a:p>
        </p:txBody>
      </p:sp>
      <p:sp>
        <p:nvSpPr>
          <p:cNvPr id="15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Многие хронические заболевания, включая порок сердца и рак, возникают из-за сбоев в механизмах, обеспечивающих устойчивость: восстанавливающих структуру ДНК, поддерживающих гибкость кровеносных сосудов, управляющих делением клеток и т. д.…"/>
          <p:cNvSpPr txBox="1"/>
          <p:nvPr>
            <p:ph type="body" idx="21"/>
          </p:nvPr>
        </p:nvSpPr>
        <p:spPr>
          <a:xfrm>
            <a:off x="336153" y="831189"/>
            <a:ext cx="12332494" cy="7583222"/>
          </a:xfrm>
          <a:prstGeom prst="rect">
            <a:avLst/>
          </a:prstGeom>
        </p:spPr>
        <p:txBody>
          <a:bodyPr/>
          <a:lstStyle/>
          <a:p>
            <a:pPr marL="444500" indent="-444500">
              <a:buSzPct val="145000"/>
              <a:buChar char="•"/>
            </a:pPr>
            <a:r>
              <a:rPr u="sng"/>
              <a:t>Многие хронические заболевания, включая порок сердца и рак, возникают</a:t>
            </a:r>
            <a:r>
              <a:t> из-за сбоев в механизмах, обеспечивающих устойчивость: восстанавливающих структуру ДНК, поддерживающих гибкость кровеносных сосудов, управляющих делением клеток и т. д. </a:t>
            </a:r>
          </a:p>
          <a:p>
            <a:pPr marL="444500" indent="-444500">
              <a:buSzPct val="145000"/>
              <a:buChar char="•"/>
            </a:pPr>
            <a:r>
              <a:rPr u="sng"/>
              <a:t>Многие экологические катастрофы происходили</a:t>
            </a:r>
            <a:r>
              <a:t> из-за утраты устойчивости, что было следствием исчезновения видов, нарушения химических и биологических процессов в почве, загрязнения токсичными веществами. </a:t>
            </a:r>
          </a:p>
          <a:p>
            <a:pPr marL="444500" indent="-444500">
              <a:buSzPct val="145000"/>
              <a:buChar char="•"/>
            </a:pPr>
            <a:r>
              <a:rPr u="sng"/>
              <a:t>Большие организации любого типа, от корпораций до правительств, утрачивают устойчивость</a:t>
            </a:r>
            <a:r>
              <a:t> просто потому, что механизмы обратных связей, благодаря которым они получают информацию и реагируют на окружающие условия, должны преодолеть слишком много последовательных запаздываний и искажений.</a:t>
            </a:r>
          </a:p>
        </p:txBody>
      </p:sp>
      <p:sp>
        <p:nvSpPr>
          <p:cNvPr id="159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Можно рассматривать устойчивость как надежное основание, на которое система может опираться, чтобы вести свою обычную деятельность в относительной безопасности.…"/>
          <p:cNvSpPr txBox="1"/>
          <p:nvPr>
            <p:ph type="body" idx="21"/>
          </p:nvPr>
        </p:nvSpPr>
        <p:spPr>
          <a:xfrm>
            <a:off x="336153" y="2825089"/>
            <a:ext cx="12332494" cy="3595422"/>
          </a:xfrm>
          <a:prstGeom prst="rect">
            <a:avLst/>
          </a:prstGeom>
        </p:spPr>
        <p:txBody>
          <a:bodyPr/>
          <a:lstStyle/>
          <a:p>
            <a:pPr/>
            <a:r>
              <a:t>Можно рассматривать устойчивость как надежное основание, на которое система может опираться, чтобы вести свою обычную деятельность в относительной безопасности. </a:t>
            </a:r>
          </a:p>
          <a:p>
            <a:pPr>
              <a:defRPr u="sng"/>
            </a:pPr>
            <a:r>
              <a:t>У устойчивых систем основание больше, они располагают большим пространством для маневра, причем границы этого пространства мягкие, эластичные: если система подходит к опасному краю, они бережно отталкивают ее обратно. </a:t>
            </a:r>
          </a:p>
        </p:txBody>
      </p:sp>
      <p:sp>
        <p:nvSpPr>
          <p:cNvPr id="162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Когда система утрачивает упругость и устойчивость, размеры надежного основания сжимаются, защитные границы становятся ниже и тверже, система начинает балансировать на грани, и еще неизвестно, в какую сторону ей придется падать.…"/>
          <p:cNvSpPr txBox="1"/>
          <p:nvPr>
            <p:ph type="body" idx="21"/>
          </p:nvPr>
        </p:nvSpPr>
        <p:spPr>
          <a:xfrm>
            <a:off x="336153" y="1790039"/>
            <a:ext cx="12332494" cy="5665522"/>
          </a:xfrm>
          <a:prstGeom prst="rect">
            <a:avLst/>
          </a:prstGeom>
        </p:spPr>
        <p:txBody>
          <a:bodyPr/>
          <a:lstStyle/>
          <a:p>
            <a:pPr/>
            <a:r>
              <a:t>Когда система утрачивает упругость и устойчивость, размеры надежного основания сжимаются, защитные границы становятся ниже и тверже, система начинает балансировать на грани, и еще неизвестно, в какую сторону ей придется падать. </a:t>
            </a:r>
          </a:p>
          <a:p>
            <a:pPr/>
            <a:r>
              <a:rPr b="1" u="sng"/>
              <a:t>Утрата устойчивости может оказаться неожиданной</a:t>
            </a:r>
            <a:r>
              <a:t>, поскольку сама система обычно уделяет все внимание своим действиям, а не причинам, которые лежат в их основе. </a:t>
            </a:r>
          </a:p>
          <a:p>
            <a:pPr/>
            <a:r>
              <a:t>В один прекрасный день система выполнит обычные действия, которые раньше проделывала многократно, но на сей раз они приведут к ее разрушению. </a:t>
            </a:r>
          </a:p>
        </p:txBody>
      </p:sp>
      <p:sp>
        <p:nvSpPr>
          <p:cNvPr id="16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Представление об устойчивости позволяет нам сохранять и даже развивать в системах их собственные восстановительные возможности, причем для этого есть масса способов.…"/>
          <p:cNvSpPr txBox="1"/>
          <p:nvPr>
            <p:ph type="body" idx="21"/>
          </p:nvPr>
        </p:nvSpPr>
        <p:spPr>
          <a:xfrm>
            <a:off x="336153" y="1294739"/>
            <a:ext cx="12332494" cy="6656122"/>
          </a:xfrm>
          <a:prstGeom prst="rect">
            <a:avLst/>
          </a:prstGeom>
        </p:spPr>
        <p:txBody>
          <a:bodyPr/>
          <a:lstStyle/>
          <a:p>
            <a:pPr/>
            <a:r>
              <a:t>Представление об устойчивости позволяет нам сохранять и даже развивать в системах их собственные восстановительные возможности, причем для этого есть масса способов. </a:t>
            </a:r>
          </a:p>
          <a:p>
            <a:pPr/>
            <a:r>
              <a:t>Именно такие знания лежат в основе органического земледелия, набирающего популярность в сельском хозяйстве: </a:t>
            </a:r>
            <a:r>
              <a:rPr b="1" u="sng"/>
              <a:t>для сдерживания численности сельскохозяйствен-ных вредителей используются их природные враги, естественные хищники</a:t>
            </a:r>
            <a:r>
              <a:t>.</a:t>
            </a:r>
          </a:p>
          <a:p>
            <a:pPr/>
            <a:r>
              <a:t>Представление о здоровье как едином целом позволяет врачам не просто лечить болезни, но восстанавливать естественные защитные функции организма, внутреннюю сопротивляемость пациента заболеваниям. </a:t>
            </a:r>
          </a:p>
        </p:txBody>
      </p:sp>
      <p:sp>
        <p:nvSpPr>
          <p:cNvPr id="168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Понимание системных механизмов позволяет организовывать программы помощи не просто как раздачу продуктов питания и денежных средств, а как ряд мер, позволяющих восстановить способность людей самостоятельно добывать пропитание и зарабатывать деньги.…"/>
          <p:cNvSpPr txBox="1"/>
          <p:nvPr>
            <p:ph type="body" idx="21"/>
          </p:nvPr>
        </p:nvSpPr>
        <p:spPr>
          <a:xfrm>
            <a:off x="336153" y="2069644"/>
            <a:ext cx="12332494" cy="5106312"/>
          </a:xfrm>
          <a:prstGeom prst="rect">
            <a:avLst/>
          </a:prstGeom>
        </p:spPr>
        <p:txBody>
          <a:bodyPr/>
          <a:lstStyle/>
          <a:p>
            <a:pPr/>
            <a:r>
              <a:t>Понимание системных механизмов позволяет организовывать программы помощи не просто как раздачу продуктов питания и денежных средств, а как ряд мер, позволяющих восстановить способность людей самостоятельно добывать пропитание и зарабатывать деньги.</a:t>
            </a:r>
          </a:p>
          <a:p>
            <a:pPr>
              <a:defRPr b="1" u="sng"/>
            </a:pPr>
            <a:r>
              <a:t>Системами нужно управлять, уделяя внимание не только производительности или стабильности. Необходимо поддерживать их устойчивость и упругость — способность выдерживать внешние воздействия и успешно восстанавливаться после них.</a:t>
            </a:r>
          </a:p>
        </p:txBody>
      </p:sp>
      <p:sp>
        <p:nvSpPr>
          <p:cNvPr id="17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