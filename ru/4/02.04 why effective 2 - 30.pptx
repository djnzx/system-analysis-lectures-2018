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270000" y="1638300"/>
            <a:ext cx="10464800" cy="3302000"/>
          </a:xfrm>
          <a:prstGeom prst="rect">
            <a:avLst/>
          </a:prstGeom>
        </p:spPr>
        <p:txBody>
          <a:bodyPr anchor="b"/>
          <a:lstStyle/>
          <a:p>
            <a:pPr/>
            <a:r>
              <a:t>Title Text</a:t>
            </a:r>
          </a:p>
        </p:txBody>
      </p:sp>
      <p:sp>
        <p:nvSpPr>
          <p:cNvPr id="12" name="Body Level One…"/>
          <p:cNvSpPr txBox="1"/>
          <p:nvPr>
            <p:ph type="body" sz="quarter" idx="1"/>
          </p:nvPr>
        </p:nvSpPr>
        <p:spPr>
          <a:xfrm>
            <a:off x="1270000" y="5029200"/>
            <a:ext cx="10464800" cy="1130300"/>
          </a:xfrm>
          <a:prstGeom prst="rect">
            <a:avLst/>
          </a:prstGeom>
        </p:spPr>
        <p:txBody>
          <a:bodyPr anchor="t"/>
          <a:lstStyle>
            <a:lvl1pPr marL="0" indent="0" algn="ctr">
              <a:spcBef>
                <a:spcPts val="0"/>
              </a:spcBef>
              <a:buClrTx/>
              <a:buSzTx/>
              <a:buNone/>
              <a:defRPr sz="3700"/>
            </a:lvl1pPr>
            <a:lvl2pPr marL="0" indent="228600" algn="ctr">
              <a:spcBef>
                <a:spcPts val="0"/>
              </a:spcBef>
              <a:buClrTx/>
              <a:buSzTx/>
              <a:buNone/>
              <a:defRPr sz="3700"/>
            </a:lvl2pPr>
            <a:lvl3pPr marL="0" indent="457200" algn="ctr">
              <a:spcBef>
                <a:spcPts val="0"/>
              </a:spcBef>
              <a:buClrTx/>
              <a:buSzTx/>
              <a:buNone/>
              <a:defRPr sz="3700"/>
            </a:lvl3pPr>
            <a:lvl4pPr marL="0" indent="685800" algn="ctr">
              <a:spcBef>
                <a:spcPts val="0"/>
              </a:spcBef>
              <a:buClrTx/>
              <a:buSzTx/>
              <a:buNone/>
              <a:defRPr sz="3700"/>
            </a:lvl4pPr>
            <a:lvl5pPr marL="0" indent="914400" algn="ctr">
              <a:spcBef>
                <a:spcPts val="0"/>
              </a:spcBef>
              <a:buClrTx/>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Image"/>
          <p:cNvSpPr/>
          <p:nvPr>
            <p:ph type="pic" idx="21"/>
          </p:nvPr>
        </p:nvSpPr>
        <p:spPr>
          <a:xfrm>
            <a:off x="-647700" y="508000"/>
            <a:ext cx="12369801" cy="6142538"/>
          </a:xfrm>
          <a:prstGeom prst="rect">
            <a:avLst/>
          </a:prstGeom>
        </p:spPr>
        <p:txBody>
          <a:bodyPr lIns="91439" tIns="45719" rIns="91439" bIns="45719" anchor="t">
            <a:noAutofit/>
          </a:bodyPr>
          <a:lstStyle/>
          <a:p>
            <a:pPr/>
          </a:p>
        </p:txBody>
      </p:sp>
      <p:sp>
        <p:nvSpPr>
          <p:cNvPr id="21" name="Title Text"/>
          <p:cNvSpPr txBox="1"/>
          <p:nvPr>
            <p:ph type="title"/>
          </p:nvPr>
        </p:nvSpPr>
        <p:spPr>
          <a:xfrm>
            <a:off x="1270000" y="6718300"/>
            <a:ext cx="10464800" cy="1422400"/>
          </a:xfrm>
          <a:prstGeom prst="rect">
            <a:avLst/>
          </a:prstGeom>
        </p:spPr>
        <p:txBody>
          <a:bodyPr/>
          <a:lstStyle/>
          <a:p>
            <a:pPr/>
            <a:r>
              <a:t>Title Text</a:t>
            </a:r>
          </a:p>
        </p:txBody>
      </p:sp>
      <p:sp>
        <p:nvSpPr>
          <p:cNvPr id="22" name="Body Level One…"/>
          <p:cNvSpPr txBox="1"/>
          <p:nvPr>
            <p:ph type="body" sz="quarter" idx="1"/>
          </p:nvPr>
        </p:nvSpPr>
        <p:spPr>
          <a:xfrm>
            <a:off x="1270000" y="8153400"/>
            <a:ext cx="10464800" cy="1130300"/>
          </a:xfrm>
          <a:prstGeom prst="rect">
            <a:avLst/>
          </a:prstGeom>
        </p:spPr>
        <p:txBody>
          <a:bodyPr anchor="t"/>
          <a:lstStyle>
            <a:lvl1pPr marL="0" indent="0" algn="ctr">
              <a:spcBef>
                <a:spcPts val="0"/>
              </a:spcBef>
              <a:buClrTx/>
              <a:buSzTx/>
              <a:buNone/>
              <a:defRPr sz="3700"/>
            </a:lvl1pPr>
            <a:lvl2pPr marL="0" indent="228600" algn="ctr">
              <a:spcBef>
                <a:spcPts val="0"/>
              </a:spcBef>
              <a:buClrTx/>
              <a:buSzTx/>
              <a:buNone/>
              <a:defRPr sz="3700"/>
            </a:lvl2pPr>
            <a:lvl3pPr marL="0" indent="457200" algn="ctr">
              <a:spcBef>
                <a:spcPts val="0"/>
              </a:spcBef>
              <a:buClrTx/>
              <a:buSzTx/>
              <a:buNone/>
              <a:defRPr sz="3700"/>
            </a:lvl3pPr>
            <a:lvl4pPr marL="0" indent="685800" algn="ctr">
              <a:spcBef>
                <a:spcPts val="0"/>
              </a:spcBef>
              <a:buClrTx/>
              <a:buSzTx/>
              <a:buNone/>
              <a:defRPr sz="3700"/>
            </a:lvl4pPr>
            <a:lvl5pPr marL="0" indent="914400" algn="ctr">
              <a:spcBef>
                <a:spcPts val="0"/>
              </a:spcBef>
              <a:buClrTx/>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1270000" y="3225800"/>
            <a:ext cx="10464800" cy="33020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Image"/>
          <p:cNvSpPr/>
          <p:nvPr>
            <p:ph type="pic" idx="21"/>
          </p:nvPr>
        </p:nvSpPr>
        <p:spPr>
          <a:xfrm>
            <a:off x="2451058" y="-138499"/>
            <a:ext cx="13525502" cy="9017002"/>
          </a:xfrm>
          <a:prstGeom prst="rect">
            <a:avLst/>
          </a:prstGeom>
        </p:spPr>
        <p:txBody>
          <a:bodyPr lIns="91439" tIns="45719" rIns="91439" bIns="45719" anchor="t">
            <a:noAutofit/>
          </a:bodyPr>
          <a:lstStyle/>
          <a:p>
            <a:pPr/>
          </a:p>
        </p:txBody>
      </p:sp>
      <p:sp>
        <p:nvSpPr>
          <p:cNvPr id="39" name="Title Text"/>
          <p:cNvSpPr txBox="1"/>
          <p:nvPr>
            <p:ph type="title"/>
          </p:nvPr>
        </p:nvSpPr>
        <p:spPr>
          <a:xfrm>
            <a:off x="952500" y="635000"/>
            <a:ext cx="5334000" cy="3987800"/>
          </a:xfrm>
          <a:prstGeom prst="rect">
            <a:avLst/>
          </a:prstGeom>
        </p:spPr>
        <p:txBody>
          <a:bodyPr anchor="b"/>
          <a:lstStyle>
            <a:lvl1pPr>
              <a:defRPr sz="6000"/>
            </a:lvl1pPr>
          </a:lstStyle>
          <a:p>
            <a:pPr/>
            <a:r>
              <a:t>Title Text</a:t>
            </a:r>
          </a:p>
        </p:txBody>
      </p:sp>
      <p:sp>
        <p:nvSpPr>
          <p:cNvPr id="40" name="Body Level One…"/>
          <p:cNvSpPr txBox="1"/>
          <p:nvPr>
            <p:ph type="body" sz="quarter" idx="1"/>
          </p:nvPr>
        </p:nvSpPr>
        <p:spPr>
          <a:xfrm>
            <a:off x="952500" y="4724400"/>
            <a:ext cx="5334000" cy="4114800"/>
          </a:xfrm>
          <a:prstGeom prst="rect">
            <a:avLst/>
          </a:prstGeom>
        </p:spPr>
        <p:txBody>
          <a:bodyPr anchor="t"/>
          <a:lstStyle>
            <a:lvl1pPr marL="0" indent="0" algn="ctr">
              <a:spcBef>
                <a:spcPts val="0"/>
              </a:spcBef>
              <a:buClrTx/>
              <a:buSzTx/>
              <a:buNone/>
              <a:defRPr sz="3700"/>
            </a:lvl1pPr>
            <a:lvl2pPr marL="0" indent="228600" algn="ctr">
              <a:spcBef>
                <a:spcPts val="0"/>
              </a:spcBef>
              <a:buClrTx/>
              <a:buSzTx/>
              <a:buNone/>
              <a:defRPr sz="3700"/>
            </a:lvl2pPr>
            <a:lvl3pPr marL="0" indent="457200" algn="ctr">
              <a:spcBef>
                <a:spcPts val="0"/>
              </a:spcBef>
              <a:buClrTx/>
              <a:buSzTx/>
              <a:buNone/>
              <a:defRPr sz="3700"/>
            </a:lvl3pPr>
            <a:lvl4pPr marL="0" indent="685800" algn="ctr">
              <a:spcBef>
                <a:spcPts val="0"/>
              </a:spcBef>
              <a:buClrTx/>
              <a:buSzTx/>
              <a:buNone/>
              <a:defRPr sz="3700"/>
            </a:lvl4pPr>
            <a:lvl5pPr marL="0" indent="914400" algn="ctr">
              <a:spcBef>
                <a:spcPts val="0"/>
              </a:spcBef>
              <a:buClrTx/>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56" name="Image"/>
          <p:cNvSpPr/>
          <p:nvPr>
            <p:ph type="pic" idx="21"/>
          </p:nvPr>
        </p:nvSpPr>
        <p:spPr>
          <a:xfrm>
            <a:off x="4473575" y="2032000"/>
            <a:ext cx="10287000" cy="6858000"/>
          </a:xfrm>
          <a:prstGeom prst="rect">
            <a:avLst/>
          </a:prstGeom>
        </p:spPr>
        <p:txBody>
          <a:bodyPr lIns="91439" tIns="45719" rIns="91439" bIns="45719" anchor="t">
            <a:noAutofit/>
          </a:bodyPr>
          <a:lstStyle/>
          <a:p>
            <a:pPr/>
          </a:p>
        </p:txBody>
      </p:sp>
      <p:sp>
        <p:nvSpPr>
          <p:cNvPr id="57" name="Title Text"/>
          <p:cNvSpPr txBox="1"/>
          <p:nvPr>
            <p:ph type="title"/>
          </p:nvPr>
        </p:nvSpPr>
        <p:spPr>
          <a:prstGeom prst="rect">
            <a:avLst/>
          </a:prstGeom>
        </p:spPr>
        <p:txBody>
          <a:bodyPr/>
          <a:lstStyle/>
          <a:p>
            <a:pPr/>
            <a:r>
              <a:t>Title Text</a:t>
            </a:r>
          </a:p>
        </p:txBody>
      </p:sp>
      <p:sp>
        <p:nvSpPr>
          <p:cNvPr id="58" name="Body Level One…"/>
          <p:cNvSpPr txBox="1"/>
          <p:nvPr>
            <p:ph type="body" sz="half" idx="1"/>
          </p:nvPr>
        </p:nvSpPr>
        <p:spPr>
          <a:xfrm>
            <a:off x="952500" y="2590800"/>
            <a:ext cx="5334000" cy="6286500"/>
          </a:xfrm>
          <a:prstGeom prst="rect">
            <a:avLst/>
          </a:prstGeom>
        </p:spPr>
        <p:txBody>
          <a:bodyPr/>
          <a:lstStyle>
            <a:lvl1pPr marL="342900" indent="-342900">
              <a:spcBef>
                <a:spcPts val="3200"/>
              </a:spcBef>
              <a:buClrTx/>
              <a:defRPr sz="2800"/>
            </a:lvl1pPr>
            <a:lvl2pPr marL="685800" indent="-342900">
              <a:spcBef>
                <a:spcPts val="3200"/>
              </a:spcBef>
              <a:buClrTx/>
              <a:defRPr sz="2800"/>
            </a:lvl2pPr>
            <a:lvl3pPr marL="1028700" indent="-342900">
              <a:spcBef>
                <a:spcPts val="3200"/>
              </a:spcBef>
              <a:buClrTx/>
              <a:defRPr sz="2800"/>
            </a:lvl3pPr>
            <a:lvl4pPr marL="1371600" indent="-342900">
              <a:spcBef>
                <a:spcPts val="3200"/>
              </a:spcBef>
              <a:buClrTx/>
              <a:defRPr sz="2800"/>
            </a:lvl4pPr>
            <a:lvl5pPr marL="1714500" indent="-342900">
              <a:spcBef>
                <a:spcPts val="3200"/>
              </a:spcBef>
              <a:buClrTx/>
              <a:defRPr sz="2800"/>
            </a:lvl5pPr>
          </a:lstStyle>
          <a:p>
            <a:pPr/>
            <a:r>
              <a:t>Body Level One</a:t>
            </a:r>
          </a:p>
          <a:p>
            <a:pPr lvl="1"/>
            <a:r>
              <a:t>Body Level Two</a:t>
            </a:r>
          </a:p>
          <a:p>
            <a:pPr lvl="2"/>
            <a:r>
              <a:t>Body Level Three</a:t>
            </a:r>
          </a:p>
          <a:p>
            <a:pPr lvl="3"/>
            <a:r>
              <a:t>Body Level Four</a:t>
            </a:r>
          </a:p>
          <a:p>
            <a:pPr lvl="4"/>
            <a:r>
              <a:t>Body Level Five</a:t>
            </a: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66" name="Body Level One…"/>
          <p:cNvSpPr txBox="1"/>
          <p:nvPr>
            <p:ph type="body" idx="1"/>
          </p:nvPr>
        </p:nvSpPr>
        <p:spPr>
          <a:xfrm>
            <a:off x="952500" y="1270000"/>
            <a:ext cx="11099800" cy="7213600"/>
          </a:xfrm>
          <a:prstGeom prst="rect">
            <a:avLst/>
          </a:prstGeom>
        </p:spPr>
        <p:txBody>
          <a:bodyPr/>
          <a:lstStyle>
            <a:lvl1pPr>
              <a:buClrTx/>
            </a:lvl1pPr>
            <a:lvl2pPr>
              <a:buClrTx/>
            </a:lvl2pPr>
            <a:lvl3pPr>
              <a:buClrTx/>
            </a:lvl3pPr>
            <a:lvl4pPr>
              <a:buClrTx/>
            </a:lvl4pPr>
            <a:lvl5pPr>
              <a:buClrTx/>
            </a:lvl5pPr>
          </a:lstStyle>
          <a:p>
            <a:pPr/>
            <a:r>
              <a:t>Body Level One</a:t>
            </a:r>
          </a:p>
          <a:p>
            <a:pPr lvl="1"/>
            <a:r>
              <a:t>Body Level Two</a:t>
            </a:r>
          </a:p>
          <a:p>
            <a:pPr lvl="2"/>
            <a:r>
              <a:t>Body Level Three</a:t>
            </a:r>
          </a:p>
          <a:p>
            <a:pPr lvl="3"/>
            <a:r>
              <a:t>Body Level Four</a:t>
            </a:r>
          </a:p>
          <a:p>
            <a:pPr lvl="4"/>
            <a:r>
              <a:t>Body Level Five</a:t>
            </a: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74" name="Image"/>
          <p:cNvSpPr/>
          <p:nvPr>
            <p:ph type="pic" sz="quarter" idx="21"/>
          </p:nvPr>
        </p:nvSpPr>
        <p:spPr>
          <a:xfrm>
            <a:off x="6426200" y="4965700"/>
            <a:ext cx="5886450" cy="3924300"/>
          </a:xfrm>
          <a:prstGeom prst="rect">
            <a:avLst/>
          </a:prstGeom>
        </p:spPr>
        <p:txBody>
          <a:bodyPr lIns="91439" tIns="45719" rIns="91439" bIns="45719" anchor="t">
            <a:noAutofit/>
          </a:bodyPr>
          <a:lstStyle/>
          <a:p>
            <a:pPr/>
          </a:p>
        </p:txBody>
      </p:sp>
      <p:sp>
        <p:nvSpPr>
          <p:cNvPr id="75" name="Image"/>
          <p:cNvSpPr/>
          <p:nvPr>
            <p:ph type="pic" sz="quarter" idx="22"/>
          </p:nvPr>
        </p:nvSpPr>
        <p:spPr>
          <a:xfrm>
            <a:off x="6737350" y="639233"/>
            <a:ext cx="5880100" cy="3920067"/>
          </a:xfrm>
          <a:prstGeom prst="rect">
            <a:avLst/>
          </a:prstGeom>
        </p:spPr>
        <p:txBody>
          <a:bodyPr lIns="91439" tIns="45719" rIns="91439" bIns="45719" anchor="t">
            <a:noAutofit/>
          </a:bodyPr>
          <a:lstStyle/>
          <a:p>
            <a:pPr/>
          </a:p>
        </p:txBody>
      </p:sp>
      <p:sp>
        <p:nvSpPr>
          <p:cNvPr id="76" name="Image"/>
          <p:cNvSpPr/>
          <p:nvPr>
            <p:ph type="pic" idx="23"/>
          </p:nvPr>
        </p:nvSpPr>
        <p:spPr>
          <a:xfrm>
            <a:off x="-3400425" y="-127000"/>
            <a:ext cx="13525500" cy="9017000"/>
          </a:xfrm>
          <a:prstGeom prst="rect">
            <a:avLst/>
          </a:prstGeom>
        </p:spPr>
        <p:txBody>
          <a:bodyPr lIns="91439" tIns="45719" rIns="91439" bIns="45719" anchor="t">
            <a:noAutofit/>
          </a:bodyPr>
          <a:lstStyle/>
          <a:p>
            <a:pP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 Box">
    <p:spTree>
      <p:nvGrpSpPr>
        <p:cNvPr id="1" name=""/>
        <p:cNvGrpSpPr/>
        <p:nvPr/>
      </p:nvGrpSpPr>
      <p:grpSpPr>
        <a:xfrm>
          <a:off x="0" y="0"/>
          <a:ext cx="0" cy="0"/>
          <a:chOff x="0" y="0"/>
          <a:chExt cx="0" cy="0"/>
        </a:xfrm>
      </p:grpSpPr>
      <p:sp>
        <p:nvSpPr>
          <p:cNvPr id="84" name="“Type a quote here.”"/>
          <p:cNvSpPr txBox="1"/>
          <p:nvPr>
            <p:ph type="body" sz="quarter" idx="21"/>
          </p:nvPr>
        </p:nvSpPr>
        <p:spPr>
          <a:xfrm>
            <a:off x="1270000" y="4308686"/>
            <a:ext cx="10464800" cy="609601"/>
          </a:xfrm>
          <a:prstGeom prst="rect">
            <a:avLst/>
          </a:prstGeom>
        </p:spPr>
        <p:txBody>
          <a:bodyPr>
            <a:spAutoFit/>
          </a:bodyPr>
          <a:lstStyle>
            <a:lvl1pPr marL="0" indent="0">
              <a:buClrTx/>
              <a:buSzTx/>
              <a:buNone/>
            </a:lvl1pPr>
          </a:lstStyle>
          <a:p>
            <a:pPr/>
            <a:r>
              <a:t>“Type a quote here.” </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92" name="Image"/>
          <p:cNvSpPr/>
          <p:nvPr>
            <p:ph type="pic" idx="21"/>
          </p:nvPr>
        </p:nvSpPr>
        <p:spPr>
          <a:xfrm>
            <a:off x="-929606" y="-12700"/>
            <a:ext cx="16551777" cy="11034518"/>
          </a:xfrm>
          <a:prstGeom prst="rect">
            <a:avLst/>
          </a:prstGeom>
        </p:spPr>
        <p:txBody>
          <a:bodyPr lIns="91439" tIns="45719" rIns="91439" bIns="45719" anchor="t">
            <a:noAutofit/>
          </a:bodyPr>
          <a:lstStyle/>
          <a:p>
            <a:pP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Title Text"/>
          <p:cNvSpPr txBox="1"/>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b="0" sz="1600">
                <a:latin typeface="Helvetica Neue Light"/>
                <a:ea typeface="Helvetica Neue Light"/>
                <a:cs typeface="Helvetica Neue Light"/>
                <a:sym typeface="Helvetica Neue Light"/>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8000" u="none">
          <a:solidFill>
            <a:srgbClr val="FFFFFF"/>
          </a:solidFill>
          <a:uFillTx/>
          <a:latin typeface="+mn-lt"/>
          <a:ea typeface="+mn-ea"/>
          <a:cs typeface="+mn-cs"/>
          <a:sym typeface="Helvetica Neue Medium"/>
        </a:defRPr>
      </a:lvl9pPr>
    </p:titleStyle>
    <p:bodyStyle>
      <a:lvl1pPr marL="4445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1pPr>
      <a:lvl2pPr marL="8890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2pPr>
      <a:lvl3pPr marL="13335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3pPr>
      <a:lvl4pPr marL="17780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4pPr>
      <a:lvl5pPr marL="22225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5pPr>
      <a:lvl6pPr marL="26670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6pPr>
      <a:lvl7pPr marL="31115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7pPr>
      <a:lvl8pPr marL="35560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8pPr>
      <a:lvl9pPr marL="4000500" marR="0" indent="-444500" algn="l" defTabSz="584200" rtl="0" latinLnBrk="0">
        <a:lnSpc>
          <a:spcPct val="100000"/>
        </a:lnSpc>
        <a:spcBef>
          <a:spcPts val="1000"/>
        </a:spcBef>
        <a:spcAft>
          <a:spcPts val="0"/>
        </a:spcAft>
        <a:buClr>
          <a:srgbClr val="FFFFFF"/>
        </a:buClr>
        <a:buSzPct val="145000"/>
        <a:buFontTx/>
        <a:buChar char="•"/>
        <a:tabLst/>
        <a:defRPr b="0" baseline="0" cap="none" i="0" spc="0" strike="noStrike" sz="3200" u="none">
          <a:solidFill>
            <a:srgbClr val="FFFFFF"/>
          </a:solidFill>
          <a:uFillTx/>
          <a:latin typeface="Helvetica Neue"/>
          <a:ea typeface="Helvetica Neue"/>
          <a:cs typeface="Helvetica Neue"/>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Системный Анализ…"/>
          <p:cNvSpPr txBox="1"/>
          <p:nvPr>
            <p:ph type="ctrTitle"/>
          </p:nvPr>
        </p:nvSpPr>
        <p:spPr>
          <a:xfrm>
            <a:off x="1270000" y="1193800"/>
            <a:ext cx="10464800" cy="3302000"/>
          </a:xfrm>
          <a:prstGeom prst="rect">
            <a:avLst/>
          </a:prstGeom>
        </p:spPr>
        <p:txBody>
          <a:bodyPr/>
          <a:lstStyle/>
          <a:p>
            <a:pPr/>
            <a:r>
              <a:t>Системный Анализ</a:t>
            </a:r>
          </a:p>
          <a:p>
            <a:pPr>
              <a:defRPr sz="3700">
                <a:latin typeface="Helvetica Neue"/>
                <a:ea typeface="Helvetica Neue"/>
                <a:cs typeface="Helvetica Neue"/>
                <a:sym typeface="Helvetica Neue"/>
              </a:defRPr>
            </a:pPr>
            <a:r>
              <a:t>почему системы так эффективны</a:t>
            </a:r>
          </a:p>
          <a:p>
            <a:pPr>
              <a:defRPr sz="3700">
                <a:latin typeface="Helvetica Neue"/>
                <a:ea typeface="Helvetica Neue"/>
                <a:cs typeface="Helvetica Neue"/>
                <a:sym typeface="Helvetica Neue"/>
              </a:defRPr>
            </a:pPr>
            <a:r>
              <a:t>2/3</a:t>
            </a:r>
          </a:p>
        </p:txBody>
      </p:sp>
      <p:sp>
        <p:nvSpPr>
          <p:cNvPr id="110" name="Алексей Рыхальский…"/>
          <p:cNvSpPr txBox="1"/>
          <p:nvPr>
            <p:ph type="subTitle" sz="quarter" idx="1"/>
          </p:nvPr>
        </p:nvSpPr>
        <p:spPr>
          <a:xfrm>
            <a:off x="1270000" y="5435600"/>
            <a:ext cx="10464800" cy="1130300"/>
          </a:xfrm>
          <a:prstGeom prst="rect">
            <a:avLst/>
          </a:prstGeom>
        </p:spPr>
        <p:txBody>
          <a:bodyPr/>
          <a:lstStyle/>
          <a:p>
            <a:pPr defTabSz="537463">
              <a:defRPr sz="3404"/>
            </a:pPr>
            <a:r>
              <a:t>Алексей Рыхальский</a:t>
            </a:r>
          </a:p>
          <a:p>
            <a:pPr defTabSz="537463">
              <a:defRPr sz="3404"/>
            </a:pPr>
            <a:r>
              <a:t>2017</a:t>
            </a:r>
          </a:p>
        </p:txBody>
      </p:sp>
      <p:sp>
        <p:nvSpPr>
          <p:cNvPr id="111"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Самоорганизация…"/>
          <p:cNvSpPr txBox="1"/>
          <p:nvPr>
            <p:ph type="body" idx="21"/>
          </p:nvPr>
        </p:nvSpPr>
        <p:spPr>
          <a:xfrm>
            <a:off x="336153" y="2094839"/>
            <a:ext cx="12332494" cy="5055922"/>
          </a:xfrm>
          <a:prstGeom prst="rect">
            <a:avLst/>
          </a:prstGeom>
        </p:spPr>
        <p:txBody>
          <a:bodyPr/>
          <a:lstStyle/>
          <a:p>
            <a:pPr algn="ctr">
              <a:spcBef>
                <a:spcPts val="0"/>
              </a:spcBef>
              <a:defRPr sz="6000">
                <a:latin typeface="+mn-lt"/>
                <a:ea typeface="+mn-ea"/>
                <a:cs typeface="+mn-cs"/>
                <a:sym typeface="Helvetica Neue Medium"/>
              </a:defRPr>
            </a:pPr>
            <a:r>
              <a:t>Самоорганизация</a:t>
            </a:r>
          </a:p>
          <a:p>
            <a:pPr/>
            <a:r>
              <a:t>Эволюция — это не просто ряд случайностей,</a:t>
            </a:r>
          </a:p>
          <a:p>
            <a:pPr/>
            <a:r>
              <a:t>происходящих из-за перемен в окружающей среде по ходу геологической истории и из-за борьбы за существование, ...</a:t>
            </a:r>
            <a:br/>
            <a:r>
              <a:t>она управляется определенными законами...</a:t>
            </a:r>
          </a:p>
          <a:p>
            <a:pPr/>
            <a:r>
              <a:t>Открыть и сформулировать эти законы —</a:t>
            </a:r>
            <a:br/>
            <a:r>
              <a:t>одна из самых важных задач будущего.</a:t>
            </a:r>
          </a:p>
          <a:p>
            <a:pPr algn="r">
              <a:spcBef>
                <a:spcPts val="2000"/>
              </a:spcBef>
              <a:defRPr i="1"/>
            </a:pPr>
            <a:r>
              <a:t>Людвиг фон Берталанфи, биолог</a:t>
            </a:r>
          </a:p>
        </p:txBody>
      </p:sp>
      <p:sp>
        <p:nvSpPr>
          <p:cNvPr id="114"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Некоторые сложные системы демонстрируют удивительнейшую способность: они могут обучаться, изменяться усложняться, эволюционировать.…"/>
          <p:cNvSpPr txBox="1"/>
          <p:nvPr>
            <p:ph type="body" idx="21"/>
          </p:nvPr>
        </p:nvSpPr>
        <p:spPr>
          <a:xfrm>
            <a:off x="336153" y="323189"/>
            <a:ext cx="12332494" cy="8599222"/>
          </a:xfrm>
          <a:prstGeom prst="rect">
            <a:avLst/>
          </a:prstGeom>
        </p:spPr>
        <p:txBody>
          <a:bodyPr/>
          <a:lstStyle/>
          <a:p>
            <a:pPr/>
            <a:r>
              <a:t>Некоторые сложные системы демонстрируют удивительнейшую способность: </a:t>
            </a:r>
            <a:r>
              <a:rPr b="1"/>
              <a:t>они могут обучаться, изменяться усложняться, эволюционировать</a:t>
            </a:r>
            <a:r>
              <a:t>. </a:t>
            </a:r>
          </a:p>
          <a:p>
            <a:pPr/>
            <a:r>
              <a:t>Это </a:t>
            </a:r>
            <a:r>
              <a:rPr u="sng"/>
              <a:t>способность:</a:t>
            </a:r>
            <a:endParaRPr u="sng"/>
          </a:p>
          <a:p>
            <a:pPr marL="444500" indent="-444500">
              <a:buSzPct val="145000"/>
              <a:buChar char="•"/>
            </a:pPr>
            <a:r>
              <a:t>одной оплодотворенной икринки развиться в лягушку,</a:t>
            </a:r>
          </a:p>
          <a:p>
            <a:pPr marL="444500" indent="-444500">
              <a:buSzPct val="145000"/>
              <a:buChar char="•"/>
            </a:pPr>
            <a:r>
              <a:t>яйца — в курицу,</a:t>
            </a:r>
          </a:p>
          <a:p>
            <a:pPr marL="444500" indent="-444500">
              <a:buSzPct val="145000"/>
              <a:buChar char="•"/>
            </a:pPr>
            <a:r>
              <a:t>яйцеклетки — в человека — то есть в чрезвычайно сложные организмы. </a:t>
            </a:r>
          </a:p>
          <a:p>
            <a:pPr/>
            <a:r>
              <a:t>Это способность природы породить миллионы отдельных видов, неповторимых, не похожих друг на друга, а ведь начиналось все с примитивного «бульона» из аминокислот. </a:t>
            </a:r>
          </a:p>
          <a:p>
            <a:pPr/>
            <a:r>
              <a:t>Это способность человеческого общества пользоваться огнем, сжигать каменный уголь, использовать пар, качать воду, применять разделение труда, организовывать конвейер и цеха по сборке автомобилей на его основе, строить небоскребы и опутывать весь мир сетью коммуникаций.</a:t>
            </a:r>
          </a:p>
        </p:txBody>
      </p:sp>
      <p:sp>
        <p:nvSpPr>
          <p:cNvPr id="117"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Способность систем усложнять свою собственную структуру называется самоорганизацией.…"/>
          <p:cNvSpPr txBox="1"/>
          <p:nvPr>
            <p:ph type="body" idx="21"/>
          </p:nvPr>
        </p:nvSpPr>
        <p:spPr>
          <a:xfrm>
            <a:off x="336153" y="437489"/>
            <a:ext cx="12332494" cy="8370622"/>
          </a:xfrm>
          <a:prstGeom prst="rect">
            <a:avLst/>
          </a:prstGeom>
        </p:spPr>
        <p:txBody>
          <a:bodyPr/>
          <a:lstStyle/>
          <a:p>
            <a:pPr>
              <a:defRPr b="1"/>
            </a:pPr>
            <a:r>
              <a:t>Способность систем усложнять свою собственную структуру называется самоорганизацией. </a:t>
            </a:r>
          </a:p>
          <a:p>
            <a:pPr/>
            <a:r>
              <a:t>Проявление самоорганизации в самой простой, механистической форме — </a:t>
            </a:r>
          </a:p>
          <a:p>
            <a:pPr marL="444500" indent="-444500">
              <a:buSzPct val="145000"/>
              <a:buChar char="•"/>
            </a:pPr>
            <a:r>
              <a:t>обычные снежинки; </a:t>
            </a:r>
          </a:p>
          <a:p>
            <a:pPr marL="444500" indent="-444500">
              <a:buSzPct val="145000"/>
              <a:buChar char="•"/>
            </a:pPr>
            <a:r>
              <a:t>морозные узоры на оконных стеклах с плохо пригнанными рамами; </a:t>
            </a:r>
          </a:p>
          <a:p>
            <a:pPr marL="444500" indent="-444500">
              <a:buSzPct val="145000"/>
              <a:buChar char="•"/>
            </a:pPr>
            <a:r>
              <a:t>кристаллы причудливой формы, осаждаемые из пересыщенных растворов... </a:t>
            </a:r>
          </a:p>
          <a:p>
            <a:pPr/>
            <a:r>
              <a:t>Более сложное проявление самоорганизации можно наблюдать, </a:t>
            </a:r>
          </a:p>
          <a:p>
            <a:pPr marL="444500" indent="-444500">
              <a:buSzPct val="145000"/>
              <a:buChar char="•"/>
            </a:pPr>
            <a:r>
              <a:t>когда семена дают ростки, </a:t>
            </a:r>
          </a:p>
          <a:p>
            <a:pPr marL="444500" indent="-444500">
              <a:buSzPct val="145000"/>
              <a:buChar char="•"/>
            </a:pPr>
            <a:r>
              <a:t>когда ребенок учится говорить, </a:t>
            </a:r>
          </a:p>
          <a:p>
            <a:pPr marL="444500" indent="-444500">
              <a:buSzPct val="145000"/>
              <a:buChar char="•"/>
            </a:pPr>
            <a:r>
              <a:t>когда соседи собираются вместе, чтобы препятствовать строительству хранилища химических отходов...</a:t>
            </a:r>
          </a:p>
        </p:txBody>
      </p:sp>
      <p:sp>
        <p:nvSpPr>
          <p:cNvPr id="120"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Самоорганизация встречается очень часто, особенно в живых системах, поэтому мы воспринимаем ее как данность, иначе разнообразие самоорганизующихся систем в мире просто ослепило бы нас.…"/>
          <p:cNvSpPr txBox="1"/>
          <p:nvPr>
            <p:ph type="body" idx="21"/>
          </p:nvPr>
        </p:nvSpPr>
        <p:spPr>
          <a:xfrm>
            <a:off x="336153" y="2253589"/>
            <a:ext cx="12332494" cy="4738422"/>
          </a:xfrm>
          <a:prstGeom prst="rect">
            <a:avLst/>
          </a:prstGeom>
        </p:spPr>
        <p:txBody>
          <a:bodyPr/>
          <a:lstStyle/>
          <a:p>
            <a:pPr/>
            <a:r>
              <a:t>Самоорганизация встречается очень часто, особенно в живых системах, </a:t>
            </a:r>
            <a:r>
              <a:rPr b="1" u="sng"/>
              <a:t>поэтому мы воспринимаем ее как данность</a:t>
            </a:r>
            <a:r>
              <a:t>, иначе разнообразие самоорганизующихся систем в мире просто ослепило бы нас.</a:t>
            </a:r>
          </a:p>
          <a:p>
            <a:pPr/>
          </a:p>
          <a:p>
            <a:pPr/>
            <a:r>
              <a:rPr b="1" u="sng"/>
              <a:t>Но из-за этого восприятия мы часто разрушаем механизмы самоорганизации, вместо того, чтобы максимально поддерживать их</a:t>
            </a:r>
            <a:r>
              <a:t> — а ведь мы сами представляем собой части самоорганизующихся систем.</a:t>
            </a:r>
          </a:p>
        </p:txBody>
      </p:sp>
      <p:sp>
        <p:nvSpPr>
          <p:cNvPr id="123"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Способностью к самоорганизации часто жертвуют в пользу краткосрочного увеличения производительности и стабильности, точно так же, как это происходит с устойчивостью.…"/>
          <p:cNvSpPr txBox="1"/>
          <p:nvPr>
            <p:ph type="body" idx="21"/>
          </p:nvPr>
        </p:nvSpPr>
        <p:spPr>
          <a:xfrm>
            <a:off x="336153" y="1288389"/>
            <a:ext cx="12332494" cy="6668822"/>
          </a:xfrm>
          <a:prstGeom prst="rect">
            <a:avLst/>
          </a:prstGeom>
        </p:spPr>
        <p:txBody>
          <a:bodyPr/>
          <a:lstStyle/>
          <a:p>
            <a:pPr/>
            <a:r>
              <a:rPr b="1" u="sng"/>
              <a:t>Способностью к самоорганизации часто жертвуют в пользу краткосрочного увеличения производительности и стабильности</a:t>
            </a:r>
            <a:r>
              <a:t>, точно так же, как это происходит с устойчивостью. </a:t>
            </a:r>
          </a:p>
          <a:p>
            <a:pPr/>
            <a:r>
              <a:rPr b="1" u="sng"/>
              <a:t>Производительность и стабильность</a:t>
            </a:r>
            <a:r>
              <a:t> — самые частые аргументы для того, чтобы превратить людей, существ изначально талантливых и творческих, в примитивные механические придатки к производственным процессам. </a:t>
            </a:r>
          </a:p>
          <a:p>
            <a:pPr/>
            <a:r>
              <a:t>Этим же оправдывают уменьшение генетического разнообразия сельскохозяйственных растений. Эти же мотивы лежат в основе бюрократических систем и теорий управления, оперирующих людьми, словно бездушными единицами.</a:t>
            </a:r>
          </a:p>
        </p:txBody>
      </p:sp>
      <p:sp>
        <p:nvSpPr>
          <p:cNvPr id="126"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Способность к самоорганизации порождает разнородность и непредсказуемость. Она может вырастить новые структуры, создать новые способы существования и виды деятельности.…"/>
          <p:cNvSpPr txBox="1"/>
          <p:nvPr>
            <p:ph type="body" idx="21"/>
          </p:nvPr>
        </p:nvSpPr>
        <p:spPr>
          <a:xfrm>
            <a:off x="336153" y="2259939"/>
            <a:ext cx="12332494" cy="4725722"/>
          </a:xfrm>
          <a:prstGeom prst="rect">
            <a:avLst/>
          </a:prstGeom>
        </p:spPr>
        <p:txBody>
          <a:bodyPr/>
          <a:lstStyle/>
          <a:p>
            <a:pPr/>
            <a:r>
              <a:rPr b="1"/>
              <a:t>Способность к самоорганизации порождает разнородность и непредсказуемость</a:t>
            </a:r>
            <a:r>
              <a:t>. Она может вырастить новые структуры, создать новые способы существования и виды деятельности. </a:t>
            </a:r>
          </a:p>
          <a:p>
            <a:pPr/>
            <a:r>
              <a:t>Для </a:t>
            </a:r>
            <a:r>
              <a:rPr b="1" u="sng"/>
              <a:t>самоорганизации необходимы</a:t>
            </a:r>
            <a:r>
              <a:t> свобода, возможность экспериментировать и некоторый (творческий) беспорядок. </a:t>
            </a:r>
          </a:p>
          <a:p>
            <a:pPr/>
            <a:r>
              <a:t>Условия, способствующие самоорганизации, могут показаться кому-то ужасными, а власти часто воспринимают их как угрозу своему существованию.</a:t>
            </a:r>
          </a:p>
        </p:txBody>
      </p:sp>
      <p:sp>
        <p:nvSpPr>
          <p:cNvPr id="129"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Из-за этого, например, образовательные системы могут ограничивать творческие способности детей, вместо того чтобы всеми силами развивать их.…"/>
          <p:cNvSpPr txBox="1"/>
          <p:nvPr>
            <p:ph type="body" idx="21"/>
          </p:nvPr>
        </p:nvSpPr>
        <p:spPr>
          <a:xfrm>
            <a:off x="336152" y="2774289"/>
            <a:ext cx="12332495" cy="4205022"/>
          </a:xfrm>
          <a:prstGeom prst="rect">
            <a:avLst/>
          </a:prstGeom>
        </p:spPr>
        <p:txBody>
          <a:bodyPr/>
          <a:lstStyle/>
          <a:p>
            <a:pPr marL="444500" indent="-444500">
              <a:buSzPct val="145000"/>
              <a:buChar char="•"/>
            </a:pPr>
            <a:r>
              <a:t>Из-за этого, например, образовательные системы могут ограничивать творческие способности детей, вместо того чтобы всеми силами развивать их. </a:t>
            </a:r>
          </a:p>
          <a:p>
            <a:pPr marL="444500" indent="-444500">
              <a:buSzPct val="145000"/>
              <a:buChar char="•"/>
            </a:pPr>
            <a:r>
              <a:t>А экономические меры могут быть направлены на поддержку давно существующих крупных корпораций, в ущерб новым, недавно созданным компаниям. </a:t>
            </a:r>
          </a:p>
          <a:p>
            <a:pPr marL="444500" indent="-444500">
              <a:buSzPct val="145000"/>
              <a:buChar char="•"/>
            </a:pPr>
            <a:r>
              <a:t>Многие правительства очень не хотят, чтобы население их стран самоорганизовывалось.</a:t>
            </a:r>
          </a:p>
        </p:txBody>
      </p:sp>
      <p:sp>
        <p:nvSpPr>
          <p:cNvPr id="132"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К счастью, самоорганизация — это настолько присущее живым системам свойство, что даже самые деспотичные властные структуры не в состоянии полностью искоренить его. Но все же иногда самоорганизацию пытаются запретить, прикрываясь именем закона и порядка, "/>
          <p:cNvSpPr txBox="1"/>
          <p:nvPr>
            <p:ph type="body" idx="21"/>
          </p:nvPr>
        </p:nvSpPr>
        <p:spPr>
          <a:xfrm>
            <a:off x="336153" y="1129639"/>
            <a:ext cx="12332494" cy="6986322"/>
          </a:xfrm>
          <a:prstGeom prst="rect">
            <a:avLst/>
          </a:prstGeom>
        </p:spPr>
        <p:txBody>
          <a:bodyPr/>
          <a:lstStyle/>
          <a:p>
            <a:pPr/>
            <a:r>
              <a:rPr b="1" u="sng"/>
              <a:t>К счастью, самоорганизация</a:t>
            </a:r>
            <a:r>
              <a:t> — это настолько присущее живым системам свойство, что даже самые деспотичные властные структуры не в состоянии полностью искоренить его. Но все же иногда самоорганизацию пытаются запретить, прикрываясь именем закона и порядка, и тогда наступают долгие периоды застоя и серости, безжалостные к любому творческому начинанию.</a:t>
            </a:r>
          </a:p>
          <a:p>
            <a:pPr/>
            <a:r>
              <a:rPr u="sng"/>
              <a:t>Специалисты по теории систем раньше полагали, что самоорганизация — настолько сложное свойство систем, что оно непознаваемо в принципе</a:t>
            </a:r>
            <a:r>
              <a:t>. Компьютеры использовались для моделирования только механистических, детерминистских систем, не способных к эволюции, — тогда считалось, что эволюционирующие системы понять и смоделировать вообще невозможно.</a:t>
            </a:r>
          </a:p>
        </p:txBody>
      </p:sp>
      <p:sp>
        <p:nvSpPr>
          <p:cNvPr id="135" name="Slide Number"/>
          <p:cNvSpPr txBox="1"/>
          <p:nvPr>
            <p:ph type="sldNum" sz="quarter" idx="4294967295"/>
          </p:nvPr>
        </p:nvSpPr>
        <p:spPr>
          <a:xfrm>
            <a:off x="6385373" y="9296400"/>
            <a:ext cx="227280" cy="32430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Но прошло время, и новые открытия показали, что нескольких несложных принципов организации вполне достаточно для того, чтобы получить широчайшее разнообразие самоорганизующихся структур.…"/>
          <p:cNvSpPr txBox="1"/>
          <p:nvPr>
            <p:ph type="body" idx="21"/>
          </p:nvPr>
        </p:nvSpPr>
        <p:spPr>
          <a:xfrm>
            <a:off x="336153" y="1301089"/>
            <a:ext cx="12332494" cy="6643422"/>
          </a:xfrm>
          <a:prstGeom prst="rect">
            <a:avLst/>
          </a:prstGeom>
        </p:spPr>
        <p:txBody>
          <a:bodyPr/>
          <a:lstStyle/>
          <a:p>
            <a:pPr>
              <a:defRPr u="sng"/>
            </a:pPr>
            <a:r>
              <a:t>Но прошло время, и новые открытия показали, что нескольких несложных принципов организации вполне достаточно для того, чтобы получить широчайшее разнообразие самоорганизующихся структур.</a:t>
            </a:r>
          </a:p>
          <a:p>
            <a:pPr/>
            <a:r>
              <a:t>Представьте себе простой равносторонний треугольник.   Теперь к каждой стороне в середине пристройте по еще одному равностороннему треугольнику, с длиной стороны в три раза меньше. К каждому образовавшемуся треугольнику пристройте новые треугольники, еще в три раза меньше, и т. д.</a:t>
            </a:r>
          </a:p>
          <a:p>
            <a:pPr/>
            <a:r>
              <a:rPr b="1"/>
              <a:t>То, что получится, называется «кривой Коха», или «снежинкой Коха»</a:t>
            </a:r>
            <a:r>
              <a:t> —этапы ее построения показаны на рис. 46.</a:t>
            </a:r>
          </a:p>
        </p:txBody>
      </p:sp>
      <p:sp>
        <p:nvSpPr>
          <p:cNvPr id="138"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Рис. 46.…"/>
          <p:cNvSpPr txBox="1"/>
          <p:nvPr>
            <p:ph type="body" idx="21"/>
          </p:nvPr>
        </p:nvSpPr>
        <p:spPr>
          <a:xfrm>
            <a:off x="336152" y="4672939"/>
            <a:ext cx="12332495" cy="4573322"/>
          </a:xfrm>
          <a:prstGeom prst="rect">
            <a:avLst/>
          </a:prstGeom>
        </p:spPr>
        <p:txBody>
          <a:bodyPr/>
          <a:lstStyle/>
          <a:p>
            <a:pPr>
              <a:spcBef>
                <a:spcPts val="0"/>
              </a:spcBef>
              <a:defRPr b="1" i="1" sz="2400" u="sng"/>
            </a:pPr>
            <a:r>
              <a:t>Рис. 46.</a:t>
            </a:r>
          </a:p>
          <a:p>
            <a:pPr/>
            <a:r>
              <a:t>Протяженность ее сторон можно увеличивать до бесконечности, но при этом «снежинка» ограничивает конечную площадь. Эта фигура — один из простейших примеров фракталов, самоподобных объектов.      </a:t>
            </a:r>
          </a:p>
          <a:p>
            <a:pPr/>
            <a:r>
              <a:t>Изучающая  их фрактальная геометрия находится на стыке искусства и математики. Фракталы строятся по относительно простым правилам, но при этом образуют очень сложные и красивые формы.</a:t>
            </a:r>
          </a:p>
        </p:txBody>
      </p:sp>
      <p:sp>
        <p:nvSpPr>
          <p:cNvPr id="141"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2" name="c03p46.png" descr="c03p46.png"/>
          <p:cNvPicPr>
            <a:picLocks noChangeAspect="1"/>
          </p:cNvPicPr>
          <p:nvPr/>
        </p:nvPicPr>
        <p:blipFill>
          <a:blip r:embed="rId2">
            <a:extLst/>
          </a:blip>
          <a:stretch>
            <a:fillRect/>
          </a:stretch>
        </p:blipFill>
        <p:spPr>
          <a:xfrm>
            <a:off x="558800" y="1234140"/>
            <a:ext cx="11663656" cy="3003018"/>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Фрактальное  поведение:…"/>
          <p:cNvSpPr txBox="1"/>
          <p:nvPr>
            <p:ph type="body" idx="21"/>
          </p:nvPr>
        </p:nvSpPr>
        <p:spPr>
          <a:xfrm>
            <a:off x="336152" y="710539"/>
            <a:ext cx="12332495" cy="2769922"/>
          </a:xfrm>
          <a:prstGeom prst="rect">
            <a:avLst/>
          </a:prstGeom>
        </p:spPr>
        <p:txBody>
          <a:bodyPr/>
          <a:lstStyle/>
          <a:p>
            <a:pPr>
              <a:defRPr b="1"/>
            </a:pPr>
            <a:r>
              <a:t>Фрактальное  поведение:</a:t>
            </a:r>
          </a:p>
          <a:p>
            <a:pPr/>
            <a:r>
              <a:t>а) фрактал, иллюстрирующий самовоспроизводимое подобие;</a:t>
            </a:r>
          </a:p>
          <a:p>
            <a:pPr/>
            <a:r>
              <a:t>б) фрактальная концептуализация разрастания пригородов (края существующих контуров   становятся точками роста новых) </a:t>
            </a:r>
          </a:p>
        </p:txBody>
      </p:sp>
      <p:sp>
        <p:nvSpPr>
          <p:cNvPr id="145"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6" name="c03p96.png" descr="c03p96.png"/>
          <p:cNvPicPr>
            <a:picLocks noChangeAspect="1"/>
          </p:cNvPicPr>
          <p:nvPr/>
        </p:nvPicPr>
        <p:blipFill>
          <a:blip r:embed="rId2">
            <a:extLst/>
          </a:blip>
          <a:stretch>
            <a:fillRect/>
          </a:stretch>
        </p:blipFill>
        <p:spPr>
          <a:xfrm>
            <a:off x="611728" y="4352349"/>
            <a:ext cx="5596444" cy="4251901"/>
          </a:xfrm>
          <a:prstGeom prst="rect">
            <a:avLst/>
          </a:prstGeom>
          <a:ln w="12700">
            <a:miter lim="400000"/>
          </a:ln>
        </p:spPr>
      </p:pic>
      <p:pic>
        <p:nvPicPr>
          <p:cNvPr id="147" name="c03p97.png" descr="c03p97.png"/>
          <p:cNvPicPr>
            <a:picLocks noChangeAspect="1"/>
          </p:cNvPicPr>
          <p:nvPr/>
        </p:nvPicPr>
        <p:blipFill>
          <a:blip r:embed="rId3">
            <a:extLst/>
          </a:blip>
          <a:stretch>
            <a:fillRect/>
          </a:stretch>
        </p:blipFill>
        <p:spPr>
          <a:xfrm>
            <a:off x="6719503" y="4365049"/>
            <a:ext cx="5673570" cy="422650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На основе всего нескольких элементарных правил построения фракталов компьютер может построить необычайно красивую, сложную, изящную картинку с растительным узором, очень похожим на настоящие листья папоротника.…"/>
          <p:cNvSpPr txBox="1"/>
          <p:nvPr>
            <p:ph type="body" idx="21"/>
          </p:nvPr>
        </p:nvSpPr>
        <p:spPr>
          <a:xfrm>
            <a:off x="336153" y="1478889"/>
            <a:ext cx="12332494" cy="6287822"/>
          </a:xfrm>
          <a:prstGeom prst="rect">
            <a:avLst/>
          </a:prstGeom>
        </p:spPr>
        <p:txBody>
          <a:bodyPr/>
          <a:lstStyle/>
          <a:p>
            <a:pPr/>
            <a:r>
              <a:t>На основе всего нескольких элементарных правил построения фракталов компьютер может построить необычайно красивую, сложную, изящную картинку с растительным узором, очень похожим на настоящие листья папоротника.   </a:t>
            </a:r>
          </a:p>
          <a:p>
            <a:pPr/>
            <a:r>
              <a:t>Вероятно,   по таким же простым  наборам геометрических правил из одной-единственной клетки развивается сложный человеческий организм. </a:t>
            </a:r>
          </a:p>
          <a:p>
            <a:pPr>
              <a:defRPr b="1"/>
            </a:pPr>
            <a:r>
              <a:rPr u="sng"/>
              <a:t>Базовые правила просты, но на их основе создаются объекты поразительной сложности и совершенства.</a:t>
            </a:r>
            <a:r>
              <a:t> </a:t>
            </a:r>
          </a:p>
          <a:p>
            <a:pPr/>
            <a:r>
              <a:t>Фрактальная геометрия, кстати говоря, показала, что суммарная поверхность легких среднестатистического человека по площади не уступает теннисному корту.</a:t>
            </a:r>
          </a:p>
        </p:txBody>
      </p:sp>
      <p:sp>
        <p:nvSpPr>
          <p:cNvPr id="150"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Вот еще несколько примеров простых правил организации, по которым строятся самоорганизующиеся системы большой сложности:…"/>
          <p:cNvSpPr txBox="1"/>
          <p:nvPr>
            <p:ph type="body" idx="21"/>
          </p:nvPr>
        </p:nvSpPr>
        <p:spPr>
          <a:xfrm>
            <a:off x="336153" y="1796389"/>
            <a:ext cx="12332494" cy="5652822"/>
          </a:xfrm>
          <a:prstGeom prst="rect">
            <a:avLst/>
          </a:prstGeom>
        </p:spPr>
        <p:txBody>
          <a:bodyPr/>
          <a:lstStyle/>
          <a:p>
            <a:pPr/>
            <a:r>
              <a:t>Вот еще несколько примеров простых правил организации, по которым строятся самоорганизующиеся системы большой сложности:</a:t>
            </a:r>
          </a:p>
          <a:p>
            <a:pPr marL="444500" indent="-444500">
              <a:buSzPct val="145000"/>
              <a:buChar char="•"/>
            </a:pPr>
            <a:r>
              <a:t>Все живые объекты, от вирусов до огромных деревьев, от амеб до слонов, основаны на одном и том же наборе правил организации, зашифрованных в молекулах ДНК, РНК и белков.</a:t>
            </a:r>
          </a:p>
          <a:p>
            <a:pPr marL="444500" indent="-444500">
              <a:buSzPct val="145000"/>
              <a:buChar char="•"/>
            </a:pPr>
            <a:r>
              <a:t>Сельскохозяйственная революция (и все, что за ней последовало) началась с открытия: оказывается, люди могут вести оседлый образ жизни, владеть землей, выводить и выращивать зерновые культуры.</a:t>
            </a:r>
          </a:p>
        </p:txBody>
      </p:sp>
      <p:sp>
        <p:nvSpPr>
          <p:cNvPr id="153"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И создал Господь Вселенную, и поместил Землю в центре ее. И создал Господь сушу, и поместил замок в центре ее. И создал Господь человечество, и Церковь в центре его», — таким был основополагающий принцип создания социальных и физических структур в средн"/>
          <p:cNvSpPr txBox="1"/>
          <p:nvPr>
            <p:ph type="body" idx="21"/>
          </p:nvPr>
        </p:nvSpPr>
        <p:spPr>
          <a:xfrm>
            <a:off x="336153" y="1618589"/>
            <a:ext cx="12332494" cy="6008422"/>
          </a:xfrm>
          <a:prstGeom prst="rect">
            <a:avLst/>
          </a:prstGeom>
        </p:spPr>
        <p:txBody>
          <a:bodyPr/>
          <a:lstStyle/>
          <a:p>
            <a:pPr marL="444500" indent="-444500">
              <a:buSzPct val="145000"/>
              <a:buChar char="•"/>
            </a:pPr>
            <a:r>
              <a:t>«И создал Господь Вселенную, и поместил Землю в центре ее. И создал Господь сушу, и поместил замок в центре ее. И создал Господь человечество, и Церковь в центре его», — таким был основополагающий принцип создания социальных и физических структур в средневековой Европе.</a:t>
            </a:r>
          </a:p>
          <a:p>
            <a:pPr marL="444500" indent="-444500">
              <a:buSzPct val="145000"/>
              <a:buChar char="•"/>
            </a:pPr>
            <a:r>
              <a:t>«Бог и мораль давно вышли из моды; человеку следует придерживаться объективной и научной точки зрения, он должен владеть средствами производства и приумножать их, а других людей и природу рассматривать как средства производства», — таков основополагающий принцип промышленной революции.</a:t>
            </a:r>
          </a:p>
        </p:txBody>
      </p:sp>
      <p:sp>
        <p:nvSpPr>
          <p:cNvPr id="156"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1. Сложность…"/>
          <p:cNvSpPr txBox="1"/>
          <p:nvPr>
            <p:ph type="body" idx="21"/>
          </p:nvPr>
        </p:nvSpPr>
        <p:spPr>
          <a:xfrm>
            <a:off x="336153" y="88239"/>
            <a:ext cx="12332494" cy="9069122"/>
          </a:xfrm>
          <a:prstGeom prst="rect">
            <a:avLst/>
          </a:prstGeom>
        </p:spPr>
        <p:txBody>
          <a:bodyPr/>
          <a:lstStyle/>
          <a:p>
            <a:pPr>
              <a:defRPr b="1"/>
            </a:pPr>
            <a:r>
              <a:t>1. Сложность</a:t>
            </a:r>
          </a:p>
          <a:p>
            <a:pPr/>
            <a:r>
              <a:t>Сложность становится следствием коллективного поведения множества взаимодействующих агентов. </a:t>
            </a:r>
          </a:p>
          <a:p>
            <a:pPr/>
            <a:r>
              <a:t>Подобные агенты способны порождать обычные явления, такие как </a:t>
            </a:r>
            <a:r>
              <a:rPr u="sng"/>
              <a:t>колонии муравьев, пробки на дорогах, биржи ценных бумаг, лесные экосистемы и системы цепочки поставки.</a:t>
            </a:r>
          </a:p>
          <a:p>
            <a:pPr/>
            <a:r>
              <a:t>Однако сложные системы не всегда сложны в восприятии. Например, моделирование колонии муравьев, выглядит достаточно просто. Здесь каждый муравей живет по следующим трем простым правилам. </a:t>
            </a:r>
          </a:p>
          <a:p>
            <a:pPr marL="635000" indent="-635000">
              <a:buSzPct val="100000"/>
              <a:buAutoNum type="arabicPeriod" startAt="1"/>
            </a:pPr>
            <a:r>
              <a:t>Перемещайся случайным образом. </a:t>
            </a:r>
          </a:p>
          <a:p>
            <a:pPr marL="635000" indent="-635000">
              <a:buSzPct val="100000"/>
              <a:buAutoNum type="arabicPeriod" startAt="1"/>
            </a:pPr>
            <a:r>
              <a:t>Если найдена пища, отнеси ее часть обратно в колонию и оставь след феромона, который со временем испарится, а затем перейди к правилу 1. </a:t>
            </a:r>
          </a:p>
          <a:p>
            <a:pPr marL="635000" indent="-635000">
              <a:buSzPct val="100000"/>
              <a:buAutoNum type="arabicPeriod" startAt="1"/>
            </a:pPr>
            <a:r>
              <a:t>Если след феромона найден, двигайся по нему к пище, а затем перейди к правилу 2.</a:t>
            </a:r>
          </a:p>
        </p:txBody>
      </p:sp>
      <p:sp>
        <p:nvSpPr>
          <p:cNvPr id="159"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Распространенный пример того, как простые правила порождают возникающую структуру — это стая птиц. Каждое движение стаи настолько прекрасно, что кажется, будто его специально срежессировали. Более того, движения стаи кажутся более плавными, чем движения "/>
          <p:cNvSpPr txBox="1"/>
          <p:nvPr>
            <p:ph type="body" idx="21"/>
          </p:nvPr>
        </p:nvSpPr>
        <p:spPr>
          <a:xfrm>
            <a:off x="336153" y="-19711"/>
            <a:ext cx="12332494" cy="9285022"/>
          </a:xfrm>
          <a:prstGeom prst="rect">
            <a:avLst/>
          </a:prstGeom>
        </p:spPr>
        <p:txBody>
          <a:bodyPr/>
          <a:lstStyle/>
          <a:p>
            <a:pPr/>
            <a:r>
              <a:t>Распространенный пример того, как простые правила порождают возникающую структуру — это стая птиц. Каждое движение стаи настолько прекрасно, что кажется, будто его специально срежессировали. Более того, движения стаи кажутся более плавными, чем движения любой птицы. Однако стая не имеет никакого управления высокого уровня или даже птицы-вожака. Каждая птица следует простому набору правил, которые она использует для взаимодействия с птицами, находящимися вблизи нее.</a:t>
            </a:r>
          </a:p>
          <a:p>
            <a:pPr marL="635000" indent="-635000">
              <a:buSzPct val="100000"/>
              <a:buAutoNum type="arabicPeriod" startAt="1"/>
            </a:pPr>
            <a:r>
              <a:t>Если ты оказалась далеко от других птиц, следуй к ближайшей из них. </a:t>
            </a:r>
          </a:p>
          <a:p>
            <a:pPr marL="635000" indent="-635000">
              <a:buSzPct val="100000"/>
              <a:buAutoNum type="arabicPeriod" startAt="1"/>
            </a:pPr>
            <a:r>
              <a:t>Если ты можешь врезаться в другую птицу, поверни в сторону. </a:t>
            </a:r>
          </a:p>
          <a:p>
            <a:pPr marL="635000" indent="-635000">
              <a:buSzPct val="100000"/>
              <a:buAutoNum type="arabicPeriod" startAt="1"/>
            </a:pPr>
            <a:r>
              <a:t>В противном случае, лети в том же направлении, что и ближайшая к тебе птица. </a:t>
            </a:r>
          </a:p>
          <a:p>
            <a:pPr/>
            <a:r>
              <a:rPr u="sng"/>
              <a:t>Таким образом ведут себя не только стаи птиц: рои пчел, стаи рыб, колонии муравьев, трафик на автостраде. </a:t>
            </a:r>
            <a:r>
              <a:t>Сложное поведение не обязательно имеет сложные причины.</a:t>
            </a:r>
          </a:p>
        </p:txBody>
      </p:sp>
      <p:sp>
        <p:nvSpPr>
          <p:cNvPr id="162"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2. Основные вопросы…"/>
          <p:cNvSpPr txBox="1"/>
          <p:nvPr>
            <p:ph type="body" idx="21"/>
          </p:nvPr>
        </p:nvSpPr>
        <p:spPr>
          <a:xfrm>
            <a:off x="336153" y="996289"/>
            <a:ext cx="12332494" cy="7253022"/>
          </a:xfrm>
          <a:prstGeom prst="rect">
            <a:avLst/>
          </a:prstGeom>
        </p:spPr>
        <p:txBody>
          <a:bodyPr/>
          <a:lstStyle/>
          <a:p>
            <a:pPr>
              <a:defRPr b="1"/>
            </a:pPr>
            <a:r>
              <a:t>2. Основные вопросы</a:t>
            </a:r>
          </a:p>
          <a:p>
            <a:pPr/>
            <a:r>
              <a:rPr b="1"/>
              <a:t>Агенты</a:t>
            </a:r>
            <a:r>
              <a:t>. Это главная идея. В сложных системах существуют автономные объекты, которые взаимодействуют друг с другом при выполнении своих определенных задач. </a:t>
            </a:r>
          </a:p>
          <a:p>
            <a:pPr marL="547076" indent="-547076">
              <a:buSzPct val="145000"/>
              <a:buChar char="•"/>
            </a:pPr>
            <a:r>
              <a:t>Агенты приспосабливаются - они должны иметь возможность реагировать на свою среду и, возможно, изменять свое поведение на основе полученной информации. </a:t>
            </a:r>
          </a:p>
          <a:p>
            <a:pPr marL="547076" indent="-547076">
              <a:buSzPct val="145000"/>
              <a:buChar char="•"/>
            </a:pPr>
            <a:r>
              <a:t>Сложные системы также характеризуются своими возникающими структурами. Возникающая структура - это логически связанная схема, которая формируется в результате взаимодействия между агентами. Например, процесс формирования всей колонии муравьев не был запрограммирован. </a:t>
            </a:r>
          </a:p>
        </p:txBody>
      </p:sp>
      <p:sp>
        <p:nvSpPr>
          <p:cNvPr id="165"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Успешные системы с возникающими структурами часто существуют на грани порядка и хаоса. Если любой организм или организация все время упорядочены или всегда находятся в состоянии хаоса, это предвестник гибели. Однако для существования объекта промежуточно"/>
          <p:cNvSpPr txBox="1"/>
          <p:nvPr>
            <p:ph type="body" idx="21"/>
          </p:nvPr>
        </p:nvSpPr>
        <p:spPr>
          <a:xfrm>
            <a:off x="336153" y="1859889"/>
            <a:ext cx="12332494" cy="5525822"/>
          </a:xfrm>
          <a:prstGeom prst="rect">
            <a:avLst/>
          </a:prstGeom>
        </p:spPr>
        <p:txBody>
          <a:bodyPr/>
          <a:lstStyle/>
          <a:p>
            <a:pPr marL="547076" indent="-547076">
              <a:buSzPct val="145000"/>
              <a:buChar char="•"/>
            </a:pPr>
            <a:r>
              <a:t>Успешные системы с возникающими структурами часто существуют на грани порядка и хаоса. Если любой организм или организация все время упорядочены или всегда находятся в состоянии хаоса, это предвестник гибели. Однако для существования объекта промежуточное состояние необходимо. </a:t>
            </a:r>
          </a:p>
          <a:p>
            <a:pPr marL="547076" indent="-547076">
              <a:buSzPct val="145000"/>
              <a:buChar char="•"/>
            </a:pPr>
            <a:r>
              <a:t>Нужно учиться у природы. Она уже миллиарды лет решала серьезные комбинаторные задачи, поэтому при создании систем на базе агентов, имеет смысл рассматривать паразитизм, симбиоз, репродукцию, генетику, митоз и естественный отбор.</a:t>
            </a:r>
          </a:p>
        </p:txBody>
      </p:sp>
      <p:sp>
        <p:nvSpPr>
          <p:cNvPr id="168"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3.Агенты и возникающие структуры…"/>
          <p:cNvSpPr txBox="1"/>
          <p:nvPr>
            <p:ph type="body" idx="21"/>
          </p:nvPr>
        </p:nvSpPr>
        <p:spPr>
          <a:xfrm>
            <a:off x="336153" y="1790039"/>
            <a:ext cx="12332494" cy="5665522"/>
          </a:xfrm>
          <a:prstGeom prst="rect">
            <a:avLst/>
          </a:prstGeom>
        </p:spPr>
        <p:txBody>
          <a:bodyPr/>
          <a:lstStyle/>
          <a:p>
            <a:pPr>
              <a:defRPr b="1"/>
            </a:pPr>
            <a:r>
              <a:t>3.Агенты и возникающие структуры</a:t>
            </a:r>
          </a:p>
          <a:p>
            <a:pPr/>
            <a:r>
              <a:t>В случае биржи ценных бумаг, тысячи агентов действуют независимо, покупая и продавая конкретные акции и боны. Из этого независимого поведения и возникает напоминающий организм продукт, называемый биржей ценных бумаг. Другими словами, рост и падение на бирже не управляется центральным процессом: они становятся результатом взаимодействия агентов. </a:t>
            </a:r>
          </a:p>
          <a:p>
            <a:pPr/>
            <a:r>
              <a:t>Колонии муравьев — возникающие структуры, которые появляются в результате интерактивных действий отдельных муравьев.</a:t>
            </a:r>
          </a:p>
        </p:txBody>
      </p:sp>
      <p:sp>
        <p:nvSpPr>
          <p:cNvPr id="171"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Еще одним примером возникающих структур могут служить семьи, организации, общества, рынки, стаи птиц и транспортные пробки.…"/>
          <p:cNvSpPr txBox="1"/>
          <p:nvPr>
            <p:ph type="body" idx="21"/>
          </p:nvPr>
        </p:nvSpPr>
        <p:spPr>
          <a:xfrm>
            <a:off x="336153" y="2329789"/>
            <a:ext cx="12332494" cy="4586022"/>
          </a:xfrm>
          <a:prstGeom prst="rect">
            <a:avLst/>
          </a:prstGeom>
        </p:spPr>
        <p:txBody>
          <a:bodyPr/>
          <a:lstStyle/>
          <a:p>
            <a:pPr/>
          </a:p>
          <a:p>
            <a:pPr/>
            <a:r>
              <a:t>Еще одним примером возникающих структур могут служить семьи, организации, общества, рынки, стаи птиц и транспортные пробки. </a:t>
            </a:r>
          </a:p>
          <a:p>
            <a:pPr/>
            <a:r>
              <a:t>В ИТ-системах к ним могут относиться </a:t>
            </a:r>
          </a:p>
          <a:p>
            <a:pPr marL="444500" indent="-444500">
              <a:buSzPct val="145000"/>
              <a:buChar char="•"/>
            </a:pPr>
            <a:r>
              <a:t>системы цепочек поставки, </a:t>
            </a:r>
          </a:p>
          <a:p>
            <a:pPr marL="444500" indent="-444500">
              <a:buSzPct val="145000"/>
              <a:buChar char="•"/>
            </a:pPr>
            <a:r>
              <a:t>планирования, </a:t>
            </a:r>
          </a:p>
          <a:p>
            <a:pPr marL="444500" indent="-444500">
              <a:buSzPct val="145000"/>
              <a:buChar char="•"/>
            </a:pPr>
            <a:r>
              <a:t>торговли и электронной коммерции. </a:t>
            </a:r>
          </a:p>
        </p:txBody>
      </p:sp>
      <p:sp>
        <p:nvSpPr>
          <p:cNvPr id="174"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4. Возникновение…"/>
          <p:cNvSpPr txBox="1"/>
          <p:nvPr>
            <p:ph type="body" idx="21"/>
          </p:nvPr>
        </p:nvSpPr>
        <p:spPr>
          <a:xfrm>
            <a:off x="336152" y="342239"/>
            <a:ext cx="12332495" cy="3735122"/>
          </a:xfrm>
          <a:prstGeom prst="rect">
            <a:avLst/>
          </a:prstGeom>
        </p:spPr>
        <p:txBody>
          <a:bodyPr/>
          <a:lstStyle/>
          <a:p>
            <a:pPr>
              <a:defRPr b="1"/>
            </a:pPr>
            <a:r>
              <a:t>4. Возникновение </a:t>
            </a:r>
          </a:p>
          <a:p>
            <a:pPr/>
            <a:r>
              <a:t>Возникновение — это существование логически связанной схемы, которая формируется как результат взаимодействия между агентами. </a:t>
            </a:r>
          </a:p>
          <a:p>
            <a:pPr/>
            <a:r>
              <a:t>Локальное взаимодействие можно поднять до уровня глобальной динамики, создавая логически связанную структуру</a:t>
            </a:r>
          </a:p>
        </p:txBody>
      </p:sp>
      <p:sp>
        <p:nvSpPr>
          <p:cNvPr id="177"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8" name="c03p98.png" descr="c03p98.png"/>
          <p:cNvPicPr>
            <a:picLocks noChangeAspect="1"/>
          </p:cNvPicPr>
          <p:nvPr/>
        </p:nvPicPr>
        <p:blipFill>
          <a:blip r:embed="rId2">
            <a:extLst/>
          </a:blip>
          <a:stretch>
            <a:fillRect/>
          </a:stretch>
        </p:blipFill>
        <p:spPr>
          <a:xfrm>
            <a:off x="3630100" y="4983391"/>
            <a:ext cx="5044000" cy="3163659"/>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Возникновение характеризуется несколькими свойствами…"/>
          <p:cNvSpPr txBox="1"/>
          <p:nvPr>
            <p:ph type="body" idx="21"/>
          </p:nvPr>
        </p:nvSpPr>
        <p:spPr>
          <a:xfrm>
            <a:off x="336153" y="348589"/>
            <a:ext cx="12332494" cy="8548422"/>
          </a:xfrm>
          <a:prstGeom prst="rect">
            <a:avLst/>
          </a:prstGeom>
        </p:spPr>
        <p:txBody>
          <a:bodyPr/>
          <a:lstStyle/>
          <a:p>
            <a:pPr/>
            <a:r>
              <a:t>Возникновение характеризуется несколькими свойствами</a:t>
            </a:r>
          </a:p>
          <a:p>
            <a:pPr marL="635000" indent="-635000">
              <a:buSzPct val="100000"/>
              <a:buAutoNum type="arabicPeriod" startAt="1"/>
            </a:pPr>
            <a:r>
              <a:t>В возникающих структурах агенты организуются в целое, которое больше, чем просто сумма составляющих. Части сами по себе не приводят к возникновению структур - необходимо их взаимодействие. Отдельные агенты-личинки не породят возникающую структуру; среда с множеством агентов, такая как система обслуживания торговых операций, поддерживаемая множеством взаимодействующих агентов, может обладать свойствами возникновения. </a:t>
            </a:r>
          </a:p>
          <a:p>
            <a:pPr marL="635000" indent="-635000">
              <a:buSzPct val="100000"/>
              <a:buAutoNum type="arabicPeriod" startAt="1"/>
            </a:pPr>
            <a:r>
              <a:t>Простые правила могут генерировать логически связанное новое явление. Например, каждый муравей в колонии имеет очень простые правила, и из этих простых правил может появиться достаточно обширная колония. Агент закупки или поставки тоже может иметь простые правила, приводящие к возникновению новой системы обслуживания склада.</a:t>
            </a:r>
          </a:p>
        </p:txBody>
      </p:sp>
      <p:sp>
        <p:nvSpPr>
          <p:cNvPr id="181"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Большинство систем с возникающими структурами порождаются снизу вверх, а не сверху вниз. Обычный инженер, как правило, разрабатывает систему сверху вниз. Этот подход может оказаться весьма полезен, но при определенных обстоятельствах. В живом мире больши"/>
          <p:cNvSpPr txBox="1"/>
          <p:nvPr>
            <p:ph type="body" idx="21"/>
          </p:nvPr>
        </p:nvSpPr>
        <p:spPr>
          <a:xfrm>
            <a:off x="336153" y="170611"/>
            <a:ext cx="12332494" cy="8904378"/>
          </a:xfrm>
          <a:prstGeom prst="rect">
            <a:avLst/>
          </a:prstGeom>
        </p:spPr>
        <p:txBody>
          <a:bodyPr/>
          <a:lstStyle/>
          <a:p>
            <a:pPr marL="635000" indent="-635000">
              <a:buSzPct val="100000"/>
              <a:buAutoNum type="arabicPeriod" startAt="3"/>
              <a:defRPr sz="3100"/>
            </a:pPr>
            <a:r>
              <a:t>Большинство систем с возникающими структурами порождаются снизу вверх, а не сверху вниз. Обычный инженер, как правило, разрабатывает систему сверху вниз. Этот подход может оказаться весьма полезен, но при определенных обстоятельствах. В живом мире большинство систем возникают из популяции более простых систем. Разработка плана повседневных операций сверху вниз прекрасно подходит для деятельности прогнозируемых организаций. В менее прогнозируемой среде планы сверху вниз легко могут устареть буквально за несколько минут, и здесь подход снизу вверх на базе агентов может привести к очень эффективной возникающей структуре. </a:t>
            </a:r>
          </a:p>
          <a:p>
            <a:pPr marL="635000" indent="-635000">
              <a:buSzPct val="100000"/>
              <a:buAutoNum type="arabicPeriod" startAt="3"/>
              <a:defRPr sz="3100"/>
            </a:pPr>
            <a:r>
              <a:t>Устойчивые возникающие структуры могут стать компонентами более сложных возникающих структур. Другими словами, может быть сформирована иерархия возникающих структур. Именно таким образом природа добивается масштабируемости; любая ИТ-организация может использовать тот же самый механизм.</a:t>
            </a:r>
          </a:p>
        </p:txBody>
      </p:sp>
      <p:sp>
        <p:nvSpPr>
          <p:cNvPr id="184"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Возникновение — это тот самый раствор между блоками, позволяющий конструировать жизнеспособные структуры.…"/>
          <p:cNvSpPr txBox="1"/>
          <p:nvPr>
            <p:ph type="body" idx="21"/>
          </p:nvPr>
        </p:nvSpPr>
        <p:spPr>
          <a:xfrm>
            <a:off x="336152" y="6101689"/>
            <a:ext cx="12332495" cy="3112822"/>
          </a:xfrm>
          <a:prstGeom prst="rect">
            <a:avLst/>
          </a:prstGeom>
        </p:spPr>
        <p:txBody>
          <a:bodyPr/>
          <a:lstStyle/>
          <a:p>
            <a:pPr/>
            <a:r>
              <a:t>Возникновение — это тот самый раствор между блоками, позволяющий конструировать жизнеспособные структуры.    </a:t>
            </a:r>
          </a:p>
          <a:p>
            <a:pPr/>
            <a:r>
              <a:t>Более того, новые структуры могут стать строительными блоками для еще более крупных структур, где каждый уровень иерархии существенно отличается от предыдущего и последующего</a:t>
            </a:r>
          </a:p>
        </p:txBody>
      </p:sp>
      <p:sp>
        <p:nvSpPr>
          <p:cNvPr id="187"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8" name="Параллели между бизнесом и биологией"/>
          <p:cNvSpPr txBox="1"/>
          <p:nvPr/>
        </p:nvSpPr>
        <p:spPr>
          <a:xfrm>
            <a:off x="2272538" y="266244"/>
            <a:ext cx="8459725" cy="58511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spcBef>
                <a:spcPts val="1000"/>
              </a:spcBef>
              <a:defRPr sz="3200"/>
            </a:lvl1pPr>
          </a:lstStyle>
          <a:p>
            <a:pPr/>
            <a:r>
              <a:t>Параллели между бизнесом и биологией</a:t>
            </a:r>
          </a:p>
        </p:txBody>
      </p:sp>
      <p:pic>
        <p:nvPicPr>
          <p:cNvPr id="189" name="c03p99.png" descr="c03p99.png"/>
          <p:cNvPicPr>
            <a:picLocks noChangeAspect="0"/>
          </p:cNvPicPr>
          <p:nvPr/>
        </p:nvPicPr>
        <p:blipFill>
          <a:blip r:embed="rId2">
            <a:extLst/>
          </a:blip>
          <a:stretch>
            <a:fillRect/>
          </a:stretch>
        </p:blipFill>
        <p:spPr>
          <a:xfrm>
            <a:off x="774700" y="1363539"/>
            <a:ext cx="10657508" cy="4320375"/>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Агенты и их возникающие структуры могут формировать двунаправленную связь. Агенты способны порождать возникающую структуру, которая может влиять на составляющих ее агентов. Например, биржа ценных бумаг - это возникающая структура отдельных покупателей и "/>
          <p:cNvSpPr txBox="1"/>
          <p:nvPr>
            <p:ph type="body" idx="21"/>
          </p:nvPr>
        </p:nvSpPr>
        <p:spPr>
          <a:xfrm>
            <a:off x="336152" y="818489"/>
            <a:ext cx="12332495" cy="7608622"/>
          </a:xfrm>
          <a:prstGeom prst="rect">
            <a:avLst/>
          </a:prstGeom>
        </p:spPr>
        <p:txBody>
          <a:bodyPr/>
          <a:lstStyle/>
          <a:p>
            <a:pPr marL="635000" indent="-635000">
              <a:buSzPct val="100000"/>
              <a:buAutoNum type="arabicPeriod" startAt="5"/>
            </a:pPr>
            <a:r>
              <a:t>Агенты и их возникающие структуры могут формировать двунаправленную связь. Агенты способны порождать возникающую структуру, которая может влиять на составляющих ее агентов. Например, биржа ценных бумаг - это возникающая структура отдельных покупателей и продавцов; кроме того, взлеты и падения на таких биржах могут влиять на возможности покупки и продажи их отдельных участников.</a:t>
            </a:r>
          </a:p>
          <a:p>
            <a:pPr>
              <a:defRPr b="1"/>
            </a:pPr>
            <a:r>
              <a:t>Локальное взаимодействие и глобальная динамика могут влиять друг на друга</a:t>
            </a:r>
          </a:p>
          <a:p>
            <a:pPr/>
            <a:r>
              <a:t>Овации возникают, когда зрители подхватывают то, что кажется спонтанными синхронными аплодисментами. Другими словами, локальное взаимодействие может породить глобальную динамику, а она может влиять на локальное взаимодействие.</a:t>
            </a:r>
          </a:p>
        </p:txBody>
      </p:sp>
      <p:sp>
        <p:nvSpPr>
          <p:cNvPr id="192"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Явления возникновения - это, как правило, устойчивые схемы с меняющимися компонентами. Птицы в стае или автомобили в транспортной пробке могут измениться, а стая и транспортная пробка сохранятся. Покупатели и продавцы в цепочке поставки компании меняются"/>
          <p:cNvSpPr txBox="1"/>
          <p:nvPr>
            <p:ph type="body" idx="21"/>
          </p:nvPr>
        </p:nvSpPr>
        <p:spPr>
          <a:xfrm>
            <a:off x="336153" y="653389"/>
            <a:ext cx="12332494" cy="7938822"/>
          </a:xfrm>
          <a:prstGeom prst="rect">
            <a:avLst/>
          </a:prstGeom>
        </p:spPr>
        <p:txBody>
          <a:bodyPr/>
          <a:lstStyle/>
          <a:p>
            <a:pPr marL="635000" indent="-635000">
              <a:buSzPct val="100000"/>
              <a:buAutoNum type="arabicPeriod" startAt="6"/>
            </a:pPr>
            <a:r>
              <a:t>Явления возникновения - это, как правило, устойчивые схемы с меняющимися компонентами. Птицы в стае или автомобили в транспортной пробке могут измениться, а стая и транспортная пробка сохранятся. Покупатели и продавцы в цепочке поставки компании меняются часто, и участники в системе планирования могут каждый день быть разными. </a:t>
            </a:r>
          </a:p>
          <a:p>
            <a:pPr marL="635000" indent="-635000">
              <a:buSzPct val="100000"/>
              <a:buAutoNum type="arabicPeriod" startAt="6"/>
            </a:pPr>
            <a:r>
              <a:t>Множества агентов могут быть гомогенными или гетерогенными. Возникающая структура может быть порождена благодаря взаимодействию одинаковых агентов. Однако значительно чаще это происходит в результате действий различных видов агентов, которые функционируют в обществе или в экосистеме. Более крупные организации используют гетерогенность за счет специализации корпоративных ресурсов, определяя различные функции и организуя бизнес-подразделения. </a:t>
            </a:r>
          </a:p>
        </p:txBody>
      </p:sp>
      <p:sp>
        <p:nvSpPr>
          <p:cNvPr id="195"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Заключение…"/>
          <p:cNvSpPr txBox="1"/>
          <p:nvPr>
            <p:ph type="body" idx="21"/>
          </p:nvPr>
        </p:nvSpPr>
        <p:spPr>
          <a:xfrm>
            <a:off x="336153" y="1663039"/>
            <a:ext cx="12332494" cy="5919522"/>
          </a:xfrm>
          <a:prstGeom prst="rect">
            <a:avLst/>
          </a:prstGeom>
        </p:spPr>
        <p:txBody>
          <a:bodyPr/>
          <a:lstStyle/>
          <a:p>
            <a:pPr>
              <a:defRPr b="1"/>
            </a:pPr>
            <a:r>
              <a:t>Заключение</a:t>
            </a:r>
          </a:p>
          <a:p>
            <a:pPr/>
            <a:r>
              <a:t>При создании систем, состоящих из агентов, следует особое внимание уделять концепции возникновения. </a:t>
            </a:r>
          </a:p>
          <a:p>
            <a:pPr/>
            <a:r>
              <a:t>С одной стороны, возникновение может произойти без вашего намерения или согласия, что может быть хорошо и плохо. </a:t>
            </a:r>
          </a:p>
          <a:p>
            <a:pPr/>
            <a:r>
              <a:t>С другой стороны, как разработчик системы вы можете попытаться «спроектировать» возникновение, которое вам нужно. </a:t>
            </a:r>
          </a:p>
          <a:p>
            <a:pPr/>
            <a:r>
              <a:t>Другими словами, вы можете попытаться спроектировать агентов с таким поведением, какое необходимо для возникновения требуемых структур.</a:t>
            </a:r>
          </a:p>
        </p:txBody>
      </p:sp>
      <p:sp>
        <p:nvSpPr>
          <p:cNvPr id="198"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Из всего сказанного можно сделать следующие выводы:…"/>
          <p:cNvSpPr txBox="1"/>
          <p:nvPr>
            <p:ph type="body" idx="21"/>
          </p:nvPr>
        </p:nvSpPr>
        <p:spPr>
          <a:xfrm>
            <a:off x="336153" y="812139"/>
            <a:ext cx="12332494" cy="7621322"/>
          </a:xfrm>
          <a:prstGeom prst="rect">
            <a:avLst/>
          </a:prstGeom>
        </p:spPr>
        <p:txBody>
          <a:bodyPr/>
          <a:lstStyle/>
          <a:p>
            <a:pPr>
              <a:defRPr b="1"/>
            </a:pPr>
            <a:r>
              <a:t>Из всего сказанного можно сделать следующие выводы:</a:t>
            </a:r>
          </a:p>
          <a:p>
            <a:pPr marL="444500" indent="-444500">
              <a:buSzPct val="145000"/>
              <a:buChar char="•"/>
            </a:pPr>
            <a:r>
              <a:t>Вы контролируете действия частей, но не целого.     </a:t>
            </a:r>
          </a:p>
          <a:p>
            <a:pPr marL="444500" indent="-444500">
              <a:buSzPct val="145000"/>
              <a:buChar char="•"/>
            </a:pPr>
            <a:r>
              <a:t>Вы действуете как проектировщик, но итоговую схему не проектируете. </a:t>
            </a:r>
          </a:p>
          <a:p>
            <a:pPr marL="444500" indent="-444500">
              <a:buSzPct val="145000"/>
              <a:buChar char="•"/>
            </a:pPr>
            <a:r>
              <a:t>Самоорганизующиеся схемы создаются без центрального руководства со стороны разработчика. </a:t>
            </a:r>
          </a:p>
          <a:p>
            <a:pPr marL="444500" indent="-444500">
              <a:buSzPct val="145000"/>
              <a:buChar char="•"/>
            </a:pPr>
            <a:r>
              <a:t>Для получения "критической массы" нужно иметь достаточное количество агентов, действующих параллельно: колония из десяти муравьев маловата. </a:t>
            </a:r>
          </a:p>
          <a:p>
            <a:pPr marL="444500" indent="-444500">
              <a:buSzPct val="145000"/>
              <a:buChar char="•"/>
            </a:pPr>
            <a:r>
              <a:t>Части должны взаимодействовать, параллелизма недостаточно. При отсутствии взаимодействий интересное поведение на уровне колонии никогда не проявится. </a:t>
            </a:r>
          </a:p>
          <a:p>
            <a:pPr marL="444500" indent="-444500">
              <a:buSzPct val="145000"/>
              <a:buChar char="•"/>
            </a:pPr>
            <a:r>
              <a:t>Стая - это не одна большая птица, а транспортная пробка - не просто множество автомобилей.</a:t>
            </a:r>
          </a:p>
        </p:txBody>
      </p:sp>
      <p:sp>
        <p:nvSpPr>
          <p:cNvPr id="201"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Из простых принципов самоорганизации могут проистекать колоссальные технологические достижения, физические структуры, компании и корпорации, культуры и цивилизации.…"/>
          <p:cNvSpPr txBox="1"/>
          <p:nvPr>
            <p:ph type="body" idx="21"/>
          </p:nvPr>
        </p:nvSpPr>
        <p:spPr>
          <a:xfrm>
            <a:off x="336153" y="583539"/>
            <a:ext cx="12332494" cy="8078522"/>
          </a:xfrm>
          <a:prstGeom prst="rect">
            <a:avLst/>
          </a:prstGeom>
        </p:spPr>
        <p:txBody>
          <a:bodyPr/>
          <a:lstStyle/>
          <a:p>
            <a:pPr/>
            <a:r>
              <a:t>Из простых принципов самоорганизации могут проистекать колоссальные технологические достижения, физические структуры, компании и корпорации, культуры и цивилизации.</a:t>
            </a:r>
          </a:p>
          <a:p>
            <a:pPr>
              <a:defRPr u="sng"/>
            </a:pPr>
            <a:r>
              <a:t>Системы часто обладают свойством самоорганизации — способностью выстраивать собственную структуру, создавать новые структуры, учиться, видоизменяться, усложняться. На основе относительно простых правил могут возникнуть чрезвычайно сложные формы самоорганизации.</a:t>
            </a:r>
            <a:br/>
            <a:r>
              <a:rPr b="1"/>
              <a:t>А могут и не возникнуть.</a:t>
            </a:r>
          </a:p>
          <a:p>
            <a:pPr/>
            <a:r>
              <a:t>Науке известны примеры того, как сложные самоорганизующиеся системы возникают из элементарных правил. Сама наука — это </a:t>
            </a:r>
            <a:r>
              <a:rPr u="sng"/>
              <a:t>тоже самоорганизующаяся система</a:t>
            </a:r>
            <a:r>
              <a:t>, которой очень нравится мысль о том, что вся сложность вселенной проистекает из простых исходных правил. Действительно ли это так, науке пока достоверно установить не удалось.</a:t>
            </a:r>
          </a:p>
        </p:txBody>
      </p:sp>
      <p:sp>
        <p:nvSpPr>
          <p:cNvPr id="204"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